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30"/>
  </p:handoutMasterIdLst>
  <p:sldIdLst>
    <p:sldId id="256" r:id="rId8"/>
    <p:sldId id="257" r:id="rId9"/>
    <p:sldId id="258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659" userDrawn="1">
          <p15:clr>
            <a:srgbClr val="A4A3A4"/>
          </p15:clr>
        </p15:guide>
        <p15:guide id="4" pos="2389" userDrawn="1">
          <p15:clr>
            <a:srgbClr val="A4A3A4"/>
          </p15:clr>
        </p15:guide>
        <p15:guide id="5" orient="horz" pos="1321" userDrawn="1">
          <p15:clr>
            <a:srgbClr val="A4A3A4"/>
          </p15:clr>
        </p15:guide>
        <p15:guide id="6" pos="5201" userDrawn="1">
          <p15:clr>
            <a:srgbClr val="A4A3A4"/>
          </p15:clr>
        </p15:guide>
        <p15:guide id="7" pos="3795" userDrawn="1">
          <p15:clr>
            <a:srgbClr val="A4A3A4"/>
          </p15:clr>
        </p15:guide>
        <p15:guide id="8" pos="347" userDrawn="1">
          <p15:clr>
            <a:srgbClr val="A4A3A4"/>
          </p15:clr>
        </p15:guide>
        <p15:guide id="9" pos="7446" userDrawn="1">
          <p15:clr>
            <a:srgbClr val="A4A3A4"/>
          </p15:clr>
        </p15:guide>
        <p15:guide id="10" orient="horz" pos="41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F3F3"/>
    <a:srgbClr val="006FBF"/>
    <a:srgbClr val="3494D9"/>
    <a:srgbClr val="52A0D9"/>
    <a:srgbClr val="007ED9"/>
    <a:srgbClr val="FDFDFD"/>
    <a:srgbClr val="2A500F"/>
    <a:srgbClr val="EF5C2F"/>
    <a:srgbClr val="766279"/>
    <a:srgbClr val="D5FF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34" autoAdjust="0"/>
    <p:restoredTop sz="94083" autoAdjust="0"/>
  </p:normalViewPr>
  <p:slideViewPr>
    <p:cSldViewPr snapToGrid="0" showGuides="1">
      <p:cViewPr>
        <p:scale>
          <a:sx n="111" d="100"/>
          <a:sy n="111" d="100"/>
        </p:scale>
        <p:origin x="688" y="176"/>
      </p:cViewPr>
      <p:guideLst>
        <p:guide orient="horz" pos="2659"/>
        <p:guide pos="2389"/>
        <p:guide orient="horz" pos="1321"/>
        <p:guide pos="5201"/>
        <p:guide pos="3795"/>
        <p:guide pos="347"/>
        <p:guide pos="7446"/>
        <p:guide orient="horz" pos="415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3872" y="20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30" Type="http://schemas.openxmlformats.org/officeDocument/2006/relationships/handoutMaster" Target="handoutMasters/handout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4ADD09-52A9-4922-90B9-EE5E1BEE6D3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8166E1-ACA3-402F-8E58-10C22B5E2E1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68377A-D648-4D38-932D-361E4376283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9811DC-F1BB-4145-85F5-598663BCCB6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031" b="6617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20" name="文本占位符 19"/>
          <p:cNvSpPr>
            <a:spLocks noGrp="1"/>
          </p:cNvSpPr>
          <p:nvPr>
            <p:ph type="body" sz="quarter" idx="10"/>
          </p:nvPr>
        </p:nvSpPr>
        <p:spPr>
          <a:xfrm>
            <a:off x="3488535" y="2749332"/>
            <a:ext cx="6005513" cy="727803"/>
          </a:xfrm>
        </p:spPr>
        <p:txBody>
          <a:bodyPr>
            <a:normAutofit/>
          </a:bodyPr>
          <a:lstStyle>
            <a:lvl1pPr marL="0" indent="0">
              <a:buNone/>
              <a:defRPr sz="4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/>
          <p:cNvSpPr/>
          <p:nvPr userDrawn="1"/>
        </p:nvSpPr>
        <p:spPr>
          <a:xfrm rot="2700000">
            <a:off x="456887" y="403519"/>
            <a:ext cx="382884" cy="382884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b="1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919068" y="408295"/>
            <a:ext cx="4454979" cy="488655"/>
          </a:xfrm>
        </p:spPr>
        <p:txBody>
          <a:bodyPr>
            <a:normAutofit/>
          </a:bodyPr>
          <a:lstStyle>
            <a:lvl1pPr marL="0" indent="0"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圆角矩形 5"/>
          <p:cNvSpPr/>
          <p:nvPr userDrawn="1"/>
        </p:nvSpPr>
        <p:spPr>
          <a:xfrm rot="2700000">
            <a:off x="330350" y="403519"/>
            <a:ext cx="382884" cy="382884"/>
          </a:xfrm>
          <a:prstGeom prst="roundRect">
            <a:avLst/>
          </a:prstGeom>
          <a:solidFill>
            <a:srgbClr val="0070C0"/>
          </a:solidFill>
          <a:ln w="28575"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222A46-65BD-48C3-A7B9-B987CE4E72C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C65824-1E22-4F7E-9BD7-32DAC111502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等线" panose="02010600030101010101" pitchFamily="2" charset="-122"/>
          <a:ea typeface="等线" panose="02010600030101010101" pitchFamily="2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B2A4A"/>
                </a:solidFill>
                <a:latin typeface="Microsoft YaHei"/>
              </a:defRPr>
            </a:pPr>
            <a:r>
              <a:t>系统总体架构：四层架构，全部为「理解」服务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项目一 · Knowledge Agent — 企业知识引擎与记忆中心  |  8大模块 · ~93%完成度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14400"/>
            <a:ext cx="11091672" cy="10972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" y="1097280"/>
            <a:ext cx="11548872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1207008"/>
            <a:ext cx="457200" cy="4572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1704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Microsoft YaHei"/>
              </a:defRPr>
            </a:pPr>
            <a:r>
              <a:t>能力层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4813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「理解什么」— 理解客户画像 + 理解商品权益 — 双大屏可视化</a:t>
            </a:r>
          </a:p>
        </p:txBody>
      </p:sp>
      <p:sp>
        <p:nvSpPr>
          <p:cNvPr id="11" name="Oval 10"/>
          <p:cNvSpPr/>
          <p:nvPr/>
        </p:nvSpPr>
        <p:spPr>
          <a:xfrm>
            <a:off x="667512" y="1920240"/>
            <a:ext cx="256032" cy="256032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901952"/>
            <a:ext cx="179771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Microsoft YaHei"/>
              </a:defRPr>
            </a:pPr>
            <a:r>
              <a:t>客户360统一视图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121408"/>
            <a:ext cx="17977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B7280"/>
                </a:solidFill>
                <a:latin typeface="Microsoft YaHei"/>
              </a:defRPr>
            </a:pPr>
            <a:r>
              <a:t>静态画像59字段</a:t>
            </a:r>
            <a:br/>
            <a:r>
              <a:t>动态记忆5信号x4窗口</a:t>
            </a:r>
            <a:br/>
            <a:r>
              <a:t>意图识别+情感分析</a:t>
            </a:r>
          </a:p>
        </p:txBody>
      </p:sp>
      <p:sp>
        <p:nvSpPr>
          <p:cNvPr id="14" name="Oval 13"/>
          <p:cNvSpPr/>
          <p:nvPr/>
        </p:nvSpPr>
        <p:spPr>
          <a:xfrm>
            <a:off x="2867558" y="1920240"/>
            <a:ext cx="256032" cy="256032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60166" y="1901952"/>
            <a:ext cx="179771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Microsoft YaHei"/>
              </a:defRPr>
            </a:pPr>
            <a:r>
              <a:t>智能意图识别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60166" y="2121408"/>
            <a:ext cx="17977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B7280"/>
                </a:solidFill>
                <a:latin typeface="Microsoft YaHei"/>
              </a:defRPr>
            </a:pPr>
            <a:r>
              <a:t>6类意图0-100评分</a:t>
            </a:r>
            <a:br/>
            <a:r>
              <a:t>DeepSeek+RuleScorer</a:t>
            </a:r>
            <a:br/>
            <a:r>
              <a:t>三级降级保障</a:t>
            </a:r>
          </a:p>
        </p:txBody>
      </p:sp>
      <p:sp>
        <p:nvSpPr>
          <p:cNvPr id="17" name="Oval 16"/>
          <p:cNvSpPr/>
          <p:nvPr/>
        </p:nvSpPr>
        <p:spPr>
          <a:xfrm>
            <a:off x="5067604" y="1920240"/>
            <a:ext cx="256032" cy="256032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60212" y="1901952"/>
            <a:ext cx="179771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Microsoft YaHei"/>
              </a:defRPr>
            </a:pPr>
            <a:r>
              <a:t>知识图谱检索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60212" y="2121408"/>
            <a:ext cx="17977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B7280"/>
                </a:solidFill>
                <a:latin typeface="Microsoft YaHei"/>
              </a:defRPr>
            </a:pPr>
            <a:r>
              <a:t>183节点+1040边</a:t>
            </a:r>
            <a:br/>
            <a:r>
              <a:t>GraphRAG混合检索</a:t>
            </a:r>
            <a:br/>
            <a:r>
              <a:t>交互式力导向图</a:t>
            </a:r>
          </a:p>
        </p:txBody>
      </p:sp>
      <p:sp>
        <p:nvSpPr>
          <p:cNvPr id="20" name="Oval 19"/>
          <p:cNvSpPr/>
          <p:nvPr/>
        </p:nvSpPr>
        <p:spPr>
          <a:xfrm>
            <a:off x="7267651" y="1920240"/>
            <a:ext cx="256032" cy="256032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60259" y="1901952"/>
            <a:ext cx="179771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Microsoft YaHei"/>
              </a:defRPr>
            </a:pPr>
            <a:r>
              <a:t>知识全文检索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60259" y="2121408"/>
            <a:ext cx="17977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B7280"/>
                </a:solidFill>
                <a:latin typeface="Microsoft YaHei"/>
              </a:defRPr>
            </a:pPr>
            <a:r>
              <a:t>150份文档搜索</a:t>
            </a:r>
            <a:br/>
            <a:r>
              <a:t>平方权重评分</a:t>
            </a:r>
            <a:br/>
            <a:r>
              <a:t>关键词高亮+类型筛选</a:t>
            </a:r>
          </a:p>
        </p:txBody>
      </p:sp>
      <p:sp>
        <p:nvSpPr>
          <p:cNvPr id="23" name="Oval 22"/>
          <p:cNvSpPr/>
          <p:nvPr/>
        </p:nvSpPr>
        <p:spPr>
          <a:xfrm>
            <a:off x="9467697" y="1920240"/>
            <a:ext cx="256032" cy="256032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60305" y="1901952"/>
            <a:ext cx="179771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Microsoft YaHei"/>
              </a:defRPr>
            </a:pPr>
            <a:r>
              <a:t>多模态商品理解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60305" y="2121408"/>
            <a:ext cx="17977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B7280"/>
                </a:solidFill>
                <a:latin typeface="Microsoft YaHei"/>
              </a:defRPr>
            </a:pPr>
            <a:r>
              <a:t>四层检索管线</a:t>
            </a:r>
            <a:br/>
            <a:r>
              <a:t>OCR+Vision+LLM</a:t>
            </a:r>
            <a:br/>
            <a:r>
              <a:t>三层假阳性控制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2697480"/>
            <a:ext cx="11548872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57200" y="2807208"/>
            <a:ext cx="457200" cy="457200"/>
          </a:xfrm>
          <a:prstGeom prst="ellipse">
            <a:avLst/>
          </a:prstGeom>
          <a:solidFill>
            <a:srgbClr val="3B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27706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A9F5"/>
                </a:solidFill>
                <a:latin typeface="Microsoft YaHei"/>
              </a:defRPr>
            </a:pPr>
            <a:r>
              <a:t>平台层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30815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「怎么理解」— 5大核心引擎 + 统一API服务 — 全部可运行</a:t>
            </a:r>
          </a:p>
        </p:txBody>
      </p:sp>
      <p:sp>
        <p:nvSpPr>
          <p:cNvPr id="30" name="Oval 29"/>
          <p:cNvSpPr/>
          <p:nvPr/>
        </p:nvSpPr>
        <p:spPr>
          <a:xfrm>
            <a:off x="667512" y="3520440"/>
            <a:ext cx="256032" cy="256032"/>
          </a:xfrm>
          <a:prstGeom prst="ellipse">
            <a:avLst/>
          </a:prstGeom>
          <a:solidFill>
            <a:srgbClr val="3B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3502152"/>
            <a:ext cx="179771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Microsoft YaHei"/>
              </a:defRPr>
            </a:pPr>
            <a:r>
              <a:t>OneID融合引擎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3721608"/>
            <a:ext cx="17977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B7280"/>
                </a:solidFill>
                <a:latin typeface="Microsoft YaHei"/>
              </a:defRPr>
            </a:pPr>
            <a:r>
              <a:t>强/中/弱三级ID</a:t>
            </a:r>
            <a:br/>
            <a:r>
              <a:t>4步算法+冲突检测</a:t>
            </a:r>
            <a:br/>
            <a:r>
              <a:t>64K映射·36测试全通过</a:t>
            </a:r>
          </a:p>
        </p:txBody>
      </p:sp>
      <p:sp>
        <p:nvSpPr>
          <p:cNvPr id="33" name="Oval 32"/>
          <p:cNvSpPr/>
          <p:nvPr/>
        </p:nvSpPr>
        <p:spPr>
          <a:xfrm>
            <a:off x="2867558" y="3520440"/>
            <a:ext cx="256032" cy="256032"/>
          </a:xfrm>
          <a:prstGeom prst="ellipse">
            <a:avLst/>
          </a:prstGeom>
          <a:solidFill>
            <a:srgbClr val="3B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60166" y="3502152"/>
            <a:ext cx="179771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Microsoft YaHei"/>
              </a:defRPr>
            </a:pPr>
            <a:r>
              <a:t>客户画像引擎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60166" y="3721608"/>
            <a:ext cx="17977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B7280"/>
                </a:solidFill>
                <a:latin typeface="Microsoft YaHei"/>
              </a:defRPr>
            </a:pPr>
            <a:r>
              <a:t>静态59字段+动态5信号</a:t>
            </a:r>
            <a:br/>
            <a:r>
              <a:t>4窗口:实时/7d/30d/90d</a:t>
            </a:r>
            <a:br/>
            <a:r>
              <a:t>T+1/微批/事件三级更新</a:t>
            </a:r>
          </a:p>
        </p:txBody>
      </p:sp>
      <p:sp>
        <p:nvSpPr>
          <p:cNvPr id="36" name="Oval 35"/>
          <p:cNvSpPr/>
          <p:nvPr/>
        </p:nvSpPr>
        <p:spPr>
          <a:xfrm>
            <a:off x="5067604" y="3520440"/>
            <a:ext cx="256032" cy="256032"/>
          </a:xfrm>
          <a:prstGeom prst="ellipse">
            <a:avLst/>
          </a:prstGeom>
          <a:solidFill>
            <a:srgbClr val="3B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60212" y="3502152"/>
            <a:ext cx="179771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Microsoft YaHei"/>
              </a:defRPr>
            </a:pPr>
            <a:r>
              <a:t>GraphRAG引擎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60212" y="3721608"/>
            <a:ext cx="17977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B7280"/>
                </a:solidFill>
                <a:latin typeface="Microsoft YaHei"/>
              </a:defRPr>
            </a:pPr>
            <a:r>
              <a:t>NetworkX内存图</a:t>
            </a:r>
            <a:br/>
            <a:r>
              <a:t>图遍历+TF-IDF+关键词</a:t>
            </a:r>
            <a:br/>
            <a:r>
              <a:t>三路融合·Neo4j可导出</a:t>
            </a:r>
          </a:p>
        </p:txBody>
      </p:sp>
      <p:sp>
        <p:nvSpPr>
          <p:cNvPr id="39" name="Oval 38"/>
          <p:cNvSpPr/>
          <p:nvPr/>
        </p:nvSpPr>
        <p:spPr>
          <a:xfrm>
            <a:off x="7267651" y="3520440"/>
            <a:ext cx="256032" cy="256032"/>
          </a:xfrm>
          <a:prstGeom prst="ellipse">
            <a:avLst/>
          </a:prstGeom>
          <a:solidFill>
            <a:srgbClr val="3B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🎯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60259" y="3502152"/>
            <a:ext cx="179771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Microsoft YaHei"/>
              </a:defRPr>
            </a:pPr>
            <a:r>
              <a:t>意图识别引擎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60259" y="3721608"/>
            <a:ext cx="17977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B7280"/>
                </a:solidFill>
                <a:latin typeface="Microsoft YaHei"/>
              </a:defRPr>
            </a:pPr>
            <a:r>
              <a:t>DeepSeek→RuleScorer→CSV</a:t>
            </a:r>
            <a:br/>
            <a:r>
              <a:t>三级降级保障</a:t>
            </a:r>
            <a:br/>
            <a:r>
              <a:t>6类意图·5维情感·可解释</a:t>
            </a:r>
          </a:p>
        </p:txBody>
      </p:sp>
      <p:sp>
        <p:nvSpPr>
          <p:cNvPr id="42" name="Oval 41"/>
          <p:cNvSpPr/>
          <p:nvPr/>
        </p:nvSpPr>
        <p:spPr>
          <a:xfrm>
            <a:off x="9467697" y="3520440"/>
            <a:ext cx="256032" cy="256032"/>
          </a:xfrm>
          <a:prstGeom prst="ellipse">
            <a:avLst/>
          </a:prstGeom>
          <a:solidFill>
            <a:srgbClr val="3B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60305" y="3502152"/>
            <a:ext cx="179771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Microsoft YaHei"/>
              </a:defRPr>
            </a:pPr>
            <a:r>
              <a:t>统一API服务层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60305" y="3721608"/>
            <a:ext cx="17977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B7280"/>
                </a:solidFill>
                <a:latin typeface="Microsoft YaHei"/>
              </a:defRPr>
            </a:pPr>
            <a:r>
              <a:t>FastAPI 14接口+Swagger</a:t>
            </a:r>
            <a:br/>
            <a:r>
              <a:t>A→B(5) + A→C(7) + C→A(2)</a:t>
            </a:r>
            <a:br/>
            <a:r>
              <a:t>批量导入+反馈回传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20040" y="4297680"/>
            <a:ext cx="11548872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57200" y="4407408"/>
            <a:ext cx="457200" cy="457200"/>
          </a:xfrm>
          <a:prstGeom prst="ellipse">
            <a:avLst/>
          </a:prstGeom>
          <a:solidFill>
            <a:srgbClr val="1E7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" y="43708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7EC4"/>
                </a:solidFill>
                <a:latin typeface="Microsoft YaHei"/>
              </a:defRPr>
            </a:pPr>
            <a:r>
              <a:t>数据层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46817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「靠什么理解」— 18表结构化数据 + 150份非结构化文档 + OneID统一映射</a:t>
            </a:r>
          </a:p>
        </p:txBody>
      </p:sp>
      <p:sp>
        <p:nvSpPr>
          <p:cNvPr id="49" name="Oval 48"/>
          <p:cNvSpPr/>
          <p:nvPr/>
        </p:nvSpPr>
        <p:spPr>
          <a:xfrm>
            <a:off x="667512" y="5120640"/>
            <a:ext cx="256032" cy="256032"/>
          </a:xfrm>
          <a:prstGeom prst="ellipse">
            <a:avLst/>
          </a:prstGeom>
          <a:solidFill>
            <a:srgbClr val="1E7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📋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0120" y="5102352"/>
            <a:ext cx="179771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Microsoft YaHei"/>
              </a:defRPr>
            </a:pPr>
            <a:r>
              <a:t>结构化数据 18表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0120" y="5321808"/>
            <a:ext cx="17977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B7280"/>
                </a:solidFill>
                <a:latin typeface="Microsoft YaHei"/>
              </a:defRPr>
            </a:pPr>
            <a:r>
              <a:t>客户8K·信用卡19K</a:t>
            </a:r>
            <a:br/>
            <a:r>
              <a:t>交易76万·APP事件37万</a:t>
            </a:r>
            <a:br/>
            <a:r>
              <a:t>产品15·权益90·活动25</a:t>
            </a:r>
          </a:p>
        </p:txBody>
      </p:sp>
      <p:sp>
        <p:nvSpPr>
          <p:cNvPr id="52" name="Oval 51"/>
          <p:cNvSpPr/>
          <p:nvPr/>
        </p:nvSpPr>
        <p:spPr>
          <a:xfrm>
            <a:off x="2867558" y="5120640"/>
            <a:ext cx="256032" cy="256032"/>
          </a:xfrm>
          <a:prstGeom prst="ellipse">
            <a:avLst/>
          </a:prstGeom>
          <a:solidFill>
            <a:srgbClr val="1E7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📄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160166" y="5102352"/>
            <a:ext cx="179771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Microsoft YaHei"/>
              </a:defRPr>
            </a:pPr>
            <a:r>
              <a:t>非结构化 150份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160166" y="5321808"/>
            <a:ext cx="17977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B7280"/>
                </a:solidFill>
                <a:latin typeface="Microsoft YaHei"/>
              </a:defRPr>
            </a:pPr>
            <a:r>
              <a:t>产品文档TXT 20份</a:t>
            </a:r>
            <a:br/>
            <a:r>
              <a:t>ASR对话JSON 956条</a:t>
            </a:r>
            <a:br/>
            <a:r>
              <a:t>活动海报 12组(图+JSON)</a:t>
            </a:r>
          </a:p>
        </p:txBody>
      </p:sp>
      <p:sp>
        <p:nvSpPr>
          <p:cNvPr id="55" name="Oval 54"/>
          <p:cNvSpPr/>
          <p:nvPr/>
        </p:nvSpPr>
        <p:spPr>
          <a:xfrm>
            <a:off x="5067604" y="5120640"/>
            <a:ext cx="256032" cy="256032"/>
          </a:xfrm>
          <a:prstGeom prst="ellipse">
            <a:avLst/>
          </a:prstGeom>
          <a:solidFill>
            <a:srgbClr val="1E7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🔗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360212" y="5102352"/>
            <a:ext cx="179771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Microsoft YaHei"/>
              </a:defRPr>
            </a:pPr>
            <a:r>
              <a:t>OneID映射 64K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60212" y="5321808"/>
            <a:ext cx="17977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B7280"/>
                </a:solidFill>
                <a:latin typeface="Microsoft YaHei"/>
              </a:defRPr>
            </a:pPr>
            <a:r>
              <a:t>强ID(身份证)→中ID(手机/卡)</a:t>
            </a:r>
            <a:br/>
            <a:r>
              <a:t>→弱ID(设备) 三级分级</a:t>
            </a:r>
            <a:br/>
            <a:r>
              <a:t>4步算法+3种冲突策略</a:t>
            </a:r>
          </a:p>
        </p:txBody>
      </p:sp>
      <p:sp>
        <p:nvSpPr>
          <p:cNvPr id="58" name="Oval 57"/>
          <p:cNvSpPr/>
          <p:nvPr/>
        </p:nvSpPr>
        <p:spPr>
          <a:xfrm>
            <a:off x="7267651" y="5120640"/>
            <a:ext cx="256032" cy="256032"/>
          </a:xfrm>
          <a:prstGeom prst="ellipse">
            <a:avLst/>
          </a:prstGeom>
          <a:solidFill>
            <a:srgbClr val="1E7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🔄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560259" y="5102352"/>
            <a:ext cx="179771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Microsoft YaHei"/>
              </a:defRPr>
            </a:pPr>
            <a:r>
              <a:t>三级数据更新管道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560259" y="5321808"/>
            <a:ext cx="17977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B7280"/>
                </a:solidFill>
                <a:latin typeface="Microsoft YaHei"/>
              </a:defRPr>
            </a:pPr>
            <a:r>
              <a:t>T+1批量:每日03:00全量刷新</a:t>
            </a:r>
            <a:br/>
            <a:r>
              <a:t>微批:每小时短期指标更新</a:t>
            </a:r>
            <a:br/>
            <a:r>
              <a:t>事件驱动:&lt;100ms实时窗口</a:t>
            </a:r>
          </a:p>
        </p:txBody>
      </p:sp>
      <p:sp>
        <p:nvSpPr>
          <p:cNvPr id="61" name="Oval 60"/>
          <p:cNvSpPr/>
          <p:nvPr/>
        </p:nvSpPr>
        <p:spPr>
          <a:xfrm>
            <a:off x="9467697" y="5120640"/>
            <a:ext cx="256032" cy="256032"/>
          </a:xfrm>
          <a:prstGeom prst="ellipse">
            <a:avLst/>
          </a:prstGeom>
          <a:solidFill>
            <a:srgbClr val="1E7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💾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760305" y="5102352"/>
            <a:ext cx="179771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Microsoft YaHei"/>
              </a:defRPr>
            </a:pPr>
            <a:r>
              <a:t>SQLite数据库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760305" y="5321808"/>
            <a:ext cx="17977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B7280"/>
                </a:solidFill>
                <a:latin typeface="Microsoft YaHei"/>
              </a:defRPr>
            </a:pPr>
            <a:r>
              <a:t>PostgreSQL兼容接口</a:t>
            </a:r>
            <a:br/>
            <a:r>
              <a:t>customer_profile 59字段</a:t>
            </a:r>
            <a:br/>
            <a:r>
              <a:t>feedback_events C→A回传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320040" y="5897880"/>
            <a:ext cx="11548872" cy="777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457200" y="6007608"/>
            <a:ext cx="457200" cy="457200"/>
          </a:xfrm>
          <a:prstGeom prst="ellipse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05840" y="59710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2A4A"/>
                </a:solidFill>
                <a:latin typeface="Microsoft YaHei"/>
              </a:defRPr>
            </a:pPr>
            <a:r>
              <a:t>基础设施层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05840" y="62819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「跑在哪里」— Mock阶段轻量完整 · 生产升级路径已预留</a:t>
            </a:r>
          </a:p>
        </p:txBody>
      </p:sp>
      <p:sp>
        <p:nvSpPr>
          <p:cNvPr id="68" name="Oval 67"/>
          <p:cNvSpPr/>
          <p:nvPr/>
        </p:nvSpPr>
        <p:spPr>
          <a:xfrm>
            <a:off x="667512" y="6720840"/>
            <a:ext cx="256032" cy="256032"/>
          </a:xfrm>
          <a:prstGeom prst="ellipse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🐍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60120" y="6702552"/>
            <a:ext cx="233857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Microsoft YaHei"/>
              </a:defRPr>
            </a:pPr>
            <a:r>
              <a:t>Python + FastAPI + Streamlit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60120" y="6922008"/>
            <a:ext cx="233857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B7280"/>
                </a:solidFill>
                <a:latin typeface="Microsoft YaHei"/>
              </a:defRPr>
            </a:pPr>
            <a:r>
              <a:t>双大屏+14API+Swagger</a:t>
            </a:r>
          </a:p>
        </p:txBody>
      </p:sp>
      <p:sp>
        <p:nvSpPr>
          <p:cNvPr id="71" name="Oval 70"/>
          <p:cNvSpPr/>
          <p:nvPr/>
        </p:nvSpPr>
        <p:spPr>
          <a:xfrm>
            <a:off x="3417570" y="6720840"/>
            <a:ext cx="256032" cy="256032"/>
          </a:xfrm>
          <a:prstGeom prst="ellipse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🤖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710178" y="6702552"/>
            <a:ext cx="233857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Microsoft YaHei"/>
              </a:defRPr>
            </a:pPr>
            <a:r>
              <a:t>DeepSeek API (5功能)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710178" y="6922008"/>
            <a:ext cx="233857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B7280"/>
                </a:solidFill>
                <a:latin typeface="Microsoft YaHei"/>
              </a:defRPr>
            </a:pPr>
            <a:r>
              <a:t>Embedding+Chat+Vision · 自动降级Mock</a:t>
            </a:r>
          </a:p>
        </p:txBody>
      </p:sp>
      <p:sp>
        <p:nvSpPr>
          <p:cNvPr id="74" name="Oval 73"/>
          <p:cNvSpPr/>
          <p:nvPr/>
        </p:nvSpPr>
        <p:spPr>
          <a:xfrm>
            <a:off x="6167628" y="6720840"/>
            <a:ext cx="256032" cy="256032"/>
          </a:xfrm>
          <a:prstGeom prst="ellipse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🗄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60236" y="6702552"/>
            <a:ext cx="233857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Microsoft YaHei"/>
              </a:defRPr>
            </a:pPr>
            <a:r>
              <a:t>SQLite + NetworkX + TF-IDF + Tesseract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60236" y="6922008"/>
            <a:ext cx="233857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B7280"/>
                </a:solidFill>
                <a:latin typeface="Microsoft YaHei"/>
              </a:defRPr>
            </a:pPr>
            <a:r>
              <a:t>轻量组合 · 全部可运行</a:t>
            </a:r>
          </a:p>
        </p:txBody>
      </p:sp>
      <p:sp>
        <p:nvSpPr>
          <p:cNvPr id="77" name="Oval 76"/>
          <p:cNvSpPr/>
          <p:nvPr/>
        </p:nvSpPr>
        <p:spPr>
          <a:xfrm>
            <a:off x="8917686" y="6720840"/>
            <a:ext cx="256032" cy="256032"/>
          </a:xfrm>
          <a:prstGeom prst="ellipse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📦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210294" y="6702552"/>
            <a:ext cx="233857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Microsoft YaHei"/>
              </a:defRPr>
            </a:pPr>
            <a:r>
              <a:t>→ 演进: PG + Neo4j + Milvus + Kafka + Docker + Qwen3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210294" y="6922008"/>
            <a:ext cx="233857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B7280"/>
                </a:solidFill>
                <a:latin typeface="Microsoft YaHei"/>
              </a:defRPr>
            </a:pPr>
            <a:r>
              <a:t>生产升级路径已预留</a:t>
            </a:r>
          </a:p>
        </p:txBody>
      </p:sp>
      <p:sp>
        <p:nvSpPr>
          <p:cNvPr id="80" name="Rectangle 79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3B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B2A4A"/>
                </a:solidFill>
                <a:latin typeface="Microsoft YaHei"/>
              </a:defRPr>
            </a:pPr>
            <a:r>
              <a:t>三项目闭环：从「理解」到「行动」到「更好的理解」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项目一(Knowledge Agent) 提供理解 → 项目二(Strategy) 制定决策 → 项目三(Marketing) 执行触达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14400"/>
            <a:ext cx="11091672" cy="10972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3474720" cy="2011680"/>
          </a:xfrm>
          <a:prstGeom prst="roundRect">
            <a:avLst/>
          </a:prstGeom>
          <a:solidFill>
            <a:srgbClr val="3B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项目一（我）</a:t>
            </a:r>
            <a:br/>
            <a:r>
              <a:t>「理解」引擎</a:t>
            </a:r>
          </a:p>
          <a:p>
            <a:pPr algn="ctr">
              <a:defRPr sz="1200">
                <a:solidFill>
                  <a:srgbClr val="DDEEFF"/>
                </a:solidFill>
                <a:latin typeface="Microsoft YaHei"/>
              </a:defRPr>
            </a:pPr>
            <a:r>
              <a:t>理解客户 + 理解商品</a:t>
            </a:r>
            <a:br/>
            <a:r>
              <a:t>14个API</a:t>
            </a:r>
            <a:br/>
            <a:r>
              <a:t>客户360大屏 + 知识图谱大屏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280160"/>
            <a:ext cx="3474720" cy="2011680"/>
          </a:xfrm>
          <a:prstGeom prst="roundRect">
            <a:avLst/>
          </a:prstGeom>
          <a:solidFill>
            <a:srgbClr val="1E7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项目二</a:t>
            </a:r>
            <a:br/>
            <a:r>
              <a:t>「决策」大脑</a:t>
            </a:r>
          </a:p>
          <a:p>
            <a:pPr algn="ctr">
              <a:defRPr sz="1200">
                <a:solidFill>
                  <a:srgbClr val="DDEEFF"/>
                </a:solidFill>
                <a:latin typeface="Microsoft YaHei"/>
              </a:defRPr>
            </a:pPr>
            <a:r>
              <a:t>圈选客群 + 生成策略</a:t>
            </a:r>
            <a:br/>
            <a:r>
              <a:t>渠道/预算/权益/频控</a:t>
            </a:r>
            <a:br/>
            <a:r>
              <a:t>策略包JSON输出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280160"/>
            <a:ext cx="3474720" cy="20116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项目三</a:t>
            </a:r>
            <a:br/>
            <a:r>
              <a:t>「触达」手脚</a:t>
            </a:r>
          </a:p>
          <a:p>
            <a:pPr algn="ctr">
              <a:defRPr sz="1200">
                <a:solidFill>
                  <a:srgbClr val="DDEEFF"/>
                </a:solidFill>
                <a:latin typeface="Microsoft YaHei"/>
              </a:defRPr>
            </a:pPr>
            <a:r>
              <a:t>多渠道推送 + 收集反馈</a:t>
            </a:r>
            <a:br/>
            <a:r>
              <a:t>曝光→点击→转化→投诉</a:t>
            </a:r>
            <a:br/>
            <a:r>
              <a:t>C→A反馈回流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14800" y="2011680"/>
            <a:ext cx="365760" cy="274320"/>
          </a:xfrm>
          <a:prstGeom prst="rightArrow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7955279" y="2011680"/>
            <a:ext cx="365760" cy="274320"/>
          </a:xfrm>
          <a:prstGeom prst="rightArrow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383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A→B: 画像/意图/知识 (5接口)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383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B→C: 策略包JSON下发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3383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BA9F5"/>
                </a:solidFill>
                <a:latin typeface="Microsoft YaHei"/>
              </a:defRPr>
            </a:pPr>
            <a:r>
              <a:t>C→A: 反馈回传 (2接口)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3703320"/>
            <a:ext cx="274320" cy="274320"/>
          </a:xfrm>
          <a:prstGeom prst="rect">
            <a:avLst/>
          </a:prstGeom>
          <a:solidFill>
            <a:srgbClr val="3B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Left Arrow 15"/>
          <p:cNvSpPr/>
          <p:nvPr/>
        </p:nvSpPr>
        <p:spPr>
          <a:xfrm>
            <a:off x="731520" y="3794760"/>
            <a:ext cx="8229600" cy="201168"/>
          </a:xfrm>
          <a:prstGeom prst="leftArrow">
            <a:avLst/>
          </a:prstGeom>
          <a:solidFill>
            <a:srgbClr val="3B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86000" y="36118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BA9F5"/>
                </a:solidFill>
                <a:latin typeface="Microsoft YaHei"/>
              </a:defRPr>
            </a:pPr>
            <a:r>
              <a:t>反馈回流: 画像即时更新 + 意图重算 + 大屏立即可见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97680"/>
            <a:ext cx="2651760" cy="7772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37083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BA9F5"/>
                </a:solidFill>
                <a:latin typeface="Microsoft YaHei"/>
              </a:defRPr>
            </a:pPr>
            <a:r>
              <a:t>93%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73659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总完成度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29000" y="4297680"/>
            <a:ext cx="2651760" cy="7772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20440" y="437083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BA9F5"/>
                </a:solidFill>
                <a:latin typeface="Microsoft YaHei"/>
              </a:defRPr>
            </a:pPr>
            <a:r>
              <a:t>18表+150文档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473659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数据资产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59" y="4297680"/>
            <a:ext cx="2651760" cy="7772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799" y="437083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BA9F5"/>
                </a:solidFill>
                <a:latin typeface="Microsoft YaHei"/>
              </a:defRPr>
            </a:pPr>
            <a:r>
              <a:t>183节点+1040边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799" y="473659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知识图谱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89719" y="4297680"/>
            <a:ext cx="2651760" cy="7772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81159" y="437083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BA9F5"/>
                </a:solidFill>
                <a:latin typeface="Microsoft YaHei"/>
              </a:defRPr>
            </a:pPr>
            <a:r>
              <a:t>64,776条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159" y="473659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OneID映射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394960"/>
            <a:ext cx="2651760" cy="7772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46811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BA9F5"/>
                </a:solidFill>
                <a:latin typeface="Microsoft YaHei"/>
              </a:defRPr>
            </a:pPr>
            <a:r>
              <a:t>14个API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83387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对外接口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29000" y="5394960"/>
            <a:ext cx="2651760" cy="7772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20440" y="546811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BA9F5"/>
                </a:solidFill>
                <a:latin typeface="Microsoft YaHei"/>
              </a:defRPr>
            </a:pPr>
            <a:r>
              <a:t>2大屏·8Tab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0440" y="583387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可视化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09359" y="5394960"/>
            <a:ext cx="2651760" cy="7772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799" y="546811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BA9F5"/>
                </a:solidFill>
                <a:latin typeface="Microsoft YaHei"/>
              </a:defRPr>
            </a:pPr>
            <a:r>
              <a:t>5/5功能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799" y="583387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DeepSeek集成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89719" y="5394960"/>
            <a:ext cx="2651760" cy="7772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81159" y="546811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BA9F5"/>
                </a:solidFill>
                <a:latin typeface="Microsoft YaHei"/>
              </a:defRPr>
            </a:pPr>
            <a:r>
              <a:t>55项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81159" y="583387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测试通过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技术栈：SQLite + NetworkX + TF-IDF + Tesseract + FastAPI + Streamlit + DeepSeek  →  全部可运行  →  升级路径已预留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3B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B2A4A"/>
                </a:solidFill>
                <a:latin typeface="Microsoft YaHei"/>
              </a:defRPr>
            </a:pPr>
            <a:r>
              <a:t>项目一核心技术栈：五大AI引擎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意图识别 · 情感理解 · 知识图谱 · 全文检索 · 多模态检索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14400"/>
            <a:ext cx="11091672" cy="10972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" y="1234440"/>
            <a:ext cx="2176272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A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234440"/>
            <a:ext cx="2176272" cy="685800"/>
          </a:xfrm>
          <a:prstGeom prst="rect">
            <a:avLst/>
          </a:prstGeom>
          <a:solidFill>
            <a:srgbClr val="3B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意图识别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011680"/>
            <a:ext cx="1810512" cy="274320"/>
          </a:xfrm>
          <a:prstGeom prst="roundRect">
            <a:avLst/>
          </a:prstGeom>
          <a:solidFill>
            <a:srgbClr val="8B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BA9F5"/>
                </a:solidFill>
                <a:latin typeface="Microsoft YaHei"/>
              </a:defRPr>
            </a:pPr>
            <a:r>
              <a:t>双引擎+三级降级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68880"/>
            <a:ext cx="19019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1A1A1A"/>
                </a:solidFill>
                <a:latin typeface="Microsoft YaHei"/>
              </a:defRPr>
            </a:pPr>
            <a:r>
              <a:t>DeepSeek LLM(优先)→RuleScorer规则引擎</a:t>
            </a:r>
            <a:br/>
            <a:r>
              <a:t>→CSV预计算兜底 · 6类意图0-100分</a:t>
            </a:r>
            <a:br/>
            <a:r>
              <a:t>可解释sub_signals+evidence_summary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1234440"/>
            <a:ext cx="2176272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7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51760" y="1234440"/>
            <a:ext cx="2176272" cy="685800"/>
          </a:xfrm>
          <a:prstGeom prst="rect">
            <a:avLst/>
          </a:prstGeom>
          <a:solidFill>
            <a:srgbClr val="1E7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情感理解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34640" y="2011680"/>
            <a:ext cx="1810512" cy="274320"/>
          </a:xfrm>
          <a:prstGeom prst="roundRect">
            <a:avLst/>
          </a:prstGeom>
          <a:solidFill>
            <a:srgbClr val="6EC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E7EC4"/>
                </a:solidFill>
                <a:latin typeface="Microsoft YaHei"/>
              </a:defRPr>
            </a:pPr>
            <a:r>
              <a:t>三源融合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2468880"/>
            <a:ext cx="19019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1A1A1A"/>
                </a:solidFill>
                <a:latin typeface="Microsoft YaHei"/>
              </a:defRPr>
            </a:pPr>
            <a:r>
              <a:t>基础规则(逾期/风险/价值11条)</a:t>
            </a:r>
            <a:br/>
            <a:r>
              <a:t>+ P3实时情绪(最近10次对话加权)</a:t>
            </a:r>
            <a:br/>
            <a:r>
              <a:t>+ DeepSeek语义(60字分析) · 4种判定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83479" y="1234440"/>
            <a:ext cx="2176272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83479" y="1234440"/>
            <a:ext cx="2176272" cy="685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知识图谱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66359" y="2011680"/>
            <a:ext cx="1810512" cy="274320"/>
          </a:xfrm>
          <a:prstGeom prst="roundRect">
            <a:avLst/>
          </a:prstGeom>
          <a:solidFill>
            <a:srgbClr val="DB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8B5CF6"/>
                </a:solidFill>
                <a:latin typeface="Microsoft YaHei"/>
              </a:defRPr>
            </a:pPr>
            <a:r>
              <a:t>NetworkX+GraphRAG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39" y="2468880"/>
            <a:ext cx="19019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1A1A1A"/>
                </a:solidFill>
                <a:latin typeface="Microsoft YaHei"/>
              </a:defRPr>
            </a:pPr>
            <a:r>
              <a:t>183节点·1040边·7实体·7关系</a:t>
            </a:r>
            <a:br/>
            <a:r>
              <a:t>分层抽样(30/8000)·智能深度遍历</a:t>
            </a:r>
            <a:br/>
            <a:r>
              <a:t>混合检索:kw×0.5+graph×0.2+embed×0.3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199" y="1234440"/>
            <a:ext cx="2176272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199" y="1234440"/>
            <a:ext cx="2176272" cy="685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全文检索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79" y="2011680"/>
            <a:ext cx="1810512" cy="274320"/>
          </a:xfrm>
          <a:prstGeom prst="roundRect">
            <a:avLst/>
          </a:prstGeom>
          <a:solidFill>
            <a:srgbClr val="6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B981"/>
                </a:solidFill>
                <a:latin typeface="Microsoft YaHei"/>
              </a:defRPr>
            </a:pPr>
            <a:r>
              <a:t>滑动窗口+平方权重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59" y="2468880"/>
            <a:ext cx="19019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1A1A1A"/>
                </a:solidFill>
                <a:latin typeface="Microsoft YaHei"/>
              </a:defRPr>
            </a:pPr>
            <a:r>
              <a:t>L=4,3,2窗口拆词 · count×len²评分</a:t>
            </a:r>
            <a:br/>
            <a:r>
              <a:t>海报×1.5加权 · 163条索引5类来源</a:t>
            </a:r>
            <a:br/>
            <a:r>
              <a:t>关键词高亮+最佳片段定位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46919" y="1234440"/>
            <a:ext cx="2176272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646919" y="1234440"/>
            <a:ext cx="2176272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多模态检索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29799" y="2011680"/>
            <a:ext cx="1810512" cy="274320"/>
          </a:xfrm>
          <a:prstGeom prst="roundRect">
            <a:avLst/>
          </a:prstGeom>
          <a:solidFill>
            <a:srgbClr val="FFE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59E0B"/>
                </a:solidFill>
                <a:latin typeface="Microsoft YaHei"/>
              </a:defRPr>
            </a:pPr>
            <a:r>
              <a:t>四层管线+三层假阳性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79" y="2468880"/>
            <a:ext cx="19019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1A1A1A"/>
                </a:solidFill>
                <a:latin typeface="Microsoft YaHei"/>
              </a:defRPr>
            </a:pPr>
            <a:r>
              <a:t>Tesseract OCR→关键词精准匹配</a:t>
            </a:r>
            <a:br/>
            <a:r>
              <a:t>→语义伪相似度→LLM相关性终判</a:t>
            </a:r>
            <a:br/>
            <a:r>
              <a:t>上下文交叉验证+阈值过滤+LLM终判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9377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2A4A"/>
                </a:solidFill>
                <a:latin typeface="Microsoft YaHei"/>
              </a:defRPr>
            </a:pPr>
            <a:r>
              <a:t>关键文件速查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257800"/>
            <a:ext cx="10972800" cy="10972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3492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2A4A"/>
                </a:solidFill>
                <a:latin typeface="Microsoft YaHei"/>
              </a:defRPr>
            </a:pPr>
            <a:r>
              <a:t>意图识别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77440" y="534924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BA9F5"/>
                </a:solidFill>
                <a:latin typeface="Microsoft YaHei"/>
              </a:defRPr>
            </a:pPr>
            <a:r>
              <a:t>intent_engine/rule_scorer.py + intent_rules.yaml + llm_client.py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53492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DeepSeek LLM + RuleScorer + CSV降级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605272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2A4A"/>
                </a:solidFill>
                <a:latin typeface="Microsoft YaHei"/>
              </a:defRPr>
            </a:pPr>
            <a:r>
              <a:t>情感理解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77440" y="560527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BA9F5"/>
                </a:solidFill>
                <a:latin typeface="Microsoft YaHei"/>
              </a:defRPr>
            </a:pPr>
            <a:r>
              <a:t>dashboard_customer360.py → render_intent() + llm_classifier.py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0" y="560527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规则+P3情绪+DeepSeek三源融合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861304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2A4A"/>
                </a:solidFill>
                <a:latin typeface="Microsoft YaHei"/>
              </a:defRPr>
            </a:pPr>
            <a:r>
              <a:t>知识图谱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40" y="5861304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BA9F5"/>
                </a:solidFill>
                <a:latin typeface="Microsoft YaHei"/>
              </a:defRPr>
            </a:pPr>
            <a:r>
              <a:t>graphrag/kg_builder.py + kg_viz.py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0" y="5861304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NetworkX + GraphRAG + Plotly可视化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117336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2A4A"/>
                </a:solidFill>
                <a:latin typeface="Microsoft YaHei"/>
              </a:defRPr>
            </a:pPr>
            <a:r>
              <a:t>全文检索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77440" y="6117336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BA9F5"/>
                </a:solidFill>
                <a:latin typeface="Microsoft YaHei"/>
              </a:defRPr>
            </a:pPr>
            <a:r>
              <a:t>dashboard_knowledge_graph.py → search_docs()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0" y="6117336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滑动窗口+平方权重+海报加权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637336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2A4A"/>
                </a:solidFill>
                <a:latin typeface="Microsoft YaHei"/>
              </a:defRPr>
            </a:pPr>
            <a:r>
              <a:t>多模态检索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77440" y="637336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BA9F5"/>
                </a:solidFill>
                <a:latin typeface="Microsoft YaHei"/>
              </a:defRPr>
            </a:pPr>
            <a:r>
              <a:t>multimodal_engine.py → multimodal_search()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46720" y="637336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OCR+关键词+语义+LLM四层管线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3B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3600" dirty="0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4698</Words>
  <Application>WPS 演示</Application>
  <PresentationFormat>宽屏</PresentationFormat>
  <Paragraphs>483</Paragraphs>
  <Slides>26</Slides>
  <Notes>4</Notes>
  <HiddenSlides>0</HiddenSlides>
  <MMClips>1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7" baseType="lpstr">
      <vt:lpstr>Arial</vt:lpstr>
      <vt:lpstr>宋体</vt:lpstr>
      <vt:lpstr>Wingdings</vt:lpstr>
      <vt:lpstr>等线</vt:lpstr>
      <vt:lpstr>微软雅黑</vt:lpstr>
      <vt:lpstr>微软雅黑 Light</vt:lpstr>
      <vt:lpstr>Yuanti SC</vt:lpstr>
      <vt:lpstr>Arial Unicode MS</vt:lpstr>
      <vt:lpstr>Cambria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张炜聪</dc:creator>
  <cp:lastModifiedBy>一只大皮耶</cp:lastModifiedBy>
  <cp:revision>301</cp:revision>
  <cp:lastPrinted>2017-02-19T13:02:00Z</cp:lastPrinted>
  <dcterms:created xsi:type="dcterms:W3CDTF">2016-07-12T12:18:00Z</dcterms:created>
  <dcterms:modified xsi:type="dcterms:W3CDTF">2026-07-22T02:00:47Z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KSOTemplateUUID">
    <vt:lpwstr>v1.0_mb_U/MUwCl8hOxLrGpRq9Kt5Q==</vt:lpwstr>
  </property>
  <property fmtid="{D5CDD505-2E9C-101B-9397-08002B2CF9AE}" pid="4" name="ICV">
    <vt:lpwstr>71BD30A19B7F479ABF970FFBA3173852_11</vt:lpwstr>
  </property>
</Properties>
</file>