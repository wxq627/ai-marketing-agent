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0"/>
  </p:handoutMasterIdLst>
  <p:sldIdLst>
    <p:sldId id="256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59" userDrawn="1">
          <p15:clr>
            <a:srgbClr val="A4A3A4"/>
          </p15:clr>
        </p15:guide>
        <p15:guide id="4" pos="2389" userDrawn="1">
          <p15:clr>
            <a:srgbClr val="A4A3A4"/>
          </p15:clr>
        </p15:guide>
        <p15:guide id="5" orient="horz" pos="1321" userDrawn="1">
          <p15:clr>
            <a:srgbClr val="A4A3A4"/>
          </p15:clr>
        </p15:guide>
        <p15:guide id="6" pos="5201" userDrawn="1">
          <p15:clr>
            <a:srgbClr val="A4A3A4"/>
          </p15:clr>
        </p15:guide>
        <p15:guide id="7" pos="3795" userDrawn="1">
          <p15:clr>
            <a:srgbClr val="A4A3A4"/>
          </p15:clr>
        </p15:guide>
        <p15:guide id="8" pos="347" userDrawn="1">
          <p15:clr>
            <a:srgbClr val="A4A3A4"/>
          </p15:clr>
        </p15:guide>
        <p15:guide id="9" pos="7446" userDrawn="1">
          <p15:clr>
            <a:srgbClr val="A4A3A4"/>
          </p15:clr>
        </p15:guide>
        <p15:guide id="10" orient="horz" pos="41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3"/>
    <a:srgbClr val="006FBF"/>
    <a:srgbClr val="3494D9"/>
    <a:srgbClr val="52A0D9"/>
    <a:srgbClr val="007ED9"/>
    <a:srgbClr val="FDFDFD"/>
    <a:srgbClr val="2A500F"/>
    <a:srgbClr val="EF5C2F"/>
    <a:srgbClr val="766279"/>
    <a:srgbClr val="D5FF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34" autoAdjust="0"/>
    <p:restoredTop sz="94083" autoAdjust="0"/>
  </p:normalViewPr>
  <p:slideViewPr>
    <p:cSldViewPr snapToGrid="0" showGuides="1">
      <p:cViewPr>
        <p:scale>
          <a:sx n="111" d="100"/>
          <a:sy n="111" d="100"/>
        </p:scale>
        <p:origin x="688" y="176"/>
      </p:cViewPr>
      <p:guideLst>
        <p:guide orient="horz" pos="2659"/>
        <p:guide pos="2389"/>
        <p:guide orient="horz" pos="1321"/>
        <p:guide pos="5201"/>
        <p:guide pos="3795"/>
        <p:guide pos="347"/>
        <p:guide pos="7446"/>
        <p:guide orient="horz" pos="415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72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0" Type="http://schemas.openxmlformats.org/officeDocument/2006/relationships/handoutMaster" Target="handoutMasters/handout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4ADD09-52A9-4922-90B9-EE5E1BEE6D3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8166E1-ACA3-402F-8E58-10C22B5E2E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68377A-D648-4D38-932D-361E4376283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9811DC-F1BB-4145-85F5-598663BCCB6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31" b="6617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20" name="文本占位符 19"/>
          <p:cNvSpPr>
            <a:spLocks noGrp="1"/>
          </p:cNvSpPr>
          <p:nvPr>
            <p:ph type="body" sz="quarter" idx="10"/>
          </p:nvPr>
        </p:nvSpPr>
        <p:spPr>
          <a:xfrm>
            <a:off x="3488535" y="2749332"/>
            <a:ext cx="6005513" cy="727803"/>
          </a:xfrm>
        </p:spPr>
        <p:txBody>
          <a:bodyPr>
            <a:normAutofit/>
          </a:bodyPr>
          <a:lstStyle>
            <a:lvl1pPr marL="0" indent="0">
              <a:buNone/>
              <a:defRPr sz="4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 userDrawn="1"/>
        </p:nvSpPr>
        <p:spPr>
          <a:xfrm rot="2700000">
            <a:off x="456887" y="403519"/>
            <a:ext cx="382884" cy="382884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919068" y="408295"/>
            <a:ext cx="4454979" cy="488655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圆角矩形 5"/>
          <p:cNvSpPr/>
          <p:nvPr userDrawn="1"/>
        </p:nvSpPr>
        <p:spPr>
          <a:xfrm rot="2700000">
            <a:off x="330350" y="403519"/>
            <a:ext cx="382884" cy="382884"/>
          </a:xfrm>
          <a:prstGeom prst="roundRect">
            <a:avLst/>
          </a:prstGeom>
          <a:solidFill>
            <a:srgbClr val="0070C0"/>
          </a:solidFill>
          <a:ln w="28575"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222A46-65BD-48C3-A7B9-B987CE4E72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65824-1E22-4F7E-9BD7-32DAC111502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等线" panose="02010600030101010101" pitchFamily="2" charset="-122"/>
          <a:ea typeface="等线" panose="02010600030101010101" pitchFamily="2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B2A4A"/>
                </a:solidFill>
                <a:latin typeface="Microsoft YaHei"/>
              </a:defRPr>
            </a:pPr>
            <a:r>
              <a:t>AI 智能营销助手 — 系统总体架构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项目一 Knowledge Agent (底层认知基石) → 项目二 Strategy Agent (策略大脑) → 项目三 Marketing Agent (触达手脚)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960120"/>
            <a:ext cx="7863840" cy="4846320"/>
          </a:xfrm>
          <a:prstGeom prst="roundRect">
            <a:avLst/>
          </a:prstGeom>
          <a:solidFill>
            <a:srgbClr val="F8FAFD"/>
          </a:solidFill>
          <a:ln w="317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960120"/>
            <a:ext cx="786384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786384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987552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项目一 · Knowledge Agent — 「理解」引擎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63040"/>
            <a:ext cx="740664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463040"/>
            <a:ext cx="7406640" cy="29260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645920"/>
            <a:ext cx="7406640" cy="10972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481328"/>
            <a:ext cx="6949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2A4A"/>
                </a:solidFill>
                <a:latin typeface="Microsoft YaHei"/>
              </a:defRPr>
            </a:pPr>
            <a:r>
              <a:t>🎯 能力层 — 「理解什么」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87452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E3A5F"/>
                </a:solidFill>
                <a:latin typeface="Microsoft YaHei"/>
              </a:defRPr>
            </a:pPr>
            <a:r>
              <a:t>理解用户画像（静态画像 · 动态记忆 · 意图情绪 · 活动效果）         理解商品权益（知识图谱 · 产品权益树 · 全文检索 · 多模态检索）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514600"/>
            <a:ext cx="740664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2514600"/>
            <a:ext cx="7406640" cy="29260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697480"/>
            <a:ext cx="7406640" cy="10972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32888"/>
            <a:ext cx="6949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2A4A"/>
                </a:solidFill>
                <a:latin typeface="Microsoft YaHei"/>
              </a:defRPr>
            </a:pPr>
            <a:r>
              <a:t>⚙️ 平台层 — 「怎么理解」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92608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E3A5F"/>
                </a:solidFill>
                <a:latin typeface="Microsoft YaHei"/>
              </a:defRPr>
            </a:pPr>
            <a:r>
              <a:t>NLP · 大模型(DeepSeek) · 意图识别 · 语义处理 · GraphRAG 混合检索    OneID融合引擎 · 客户画像引擎 · 统一API服务层(FastAPI 14接口)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566160"/>
            <a:ext cx="740664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3566160"/>
            <a:ext cx="7406640" cy="29260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749040"/>
            <a:ext cx="7406640" cy="10972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584448"/>
            <a:ext cx="6949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2A4A"/>
                </a:solidFill>
                <a:latin typeface="Microsoft YaHei"/>
              </a:defRPr>
            </a:pPr>
            <a:r>
              <a:t>💾 数据层 — 「靠什么理解」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97764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E3A5F"/>
                </a:solidFill>
                <a:latin typeface="Microsoft YaHei"/>
              </a:defRPr>
            </a:pPr>
            <a:r>
              <a:t>结构化数据18张表  +  非结构化数据150份（文档·对话·海报）  +  OneID统一映射64K条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617720"/>
            <a:ext cx="740664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4617720"/>
            <a:ext cx="7406640" cy="29260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4800600"/>
            <a:ext cx="7406640" cy="10972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636008"/>
            <a:ext cx="6949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2A4A"/>
                </a:solidFill>
                <a:latin typeface="Microsoft YaHei"/>
              </a:defRPr>
            </a:pPr>
            <a:r>
              <a:t>🖥️ 基础设施层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02920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E3A5F"/>
                </a:solidFill>
                <a:latin typeface="Microsoft YaHei"/>
              </a:defRPr>
            </a:pPr>
            <a:r>
              <a:t>SQLite 数据库  ·  NetworkX 图引擎  ·  TF-IDF  ·  Tesseract OCR  ·  Streamlit 双大屏  ·  DeepSeek API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03920" y="1280160"/>
            <a:ext cx="32918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503920" y="1280160"/>
            <a:ext cx="329184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03920" y="1536192"/>
            <a:ext cx="329184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129844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项目二 · Strategy 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17830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2A4A"/>
                </a:solidFill>
                <a:latin typeface="Microsoft YaHei"/>
              </a:defRPr>
            </a:pPr>
            <a:r>
              <a:t>「决策」大脑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217627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3A5F"/>
                </a:solidFill>
                <a:latin typeface="Microsoft YaHei"/>
              </a:defRPr>
            </a:pPr>
            <a:r>
              <a:t>圈选客群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245059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3A5F"/>
                </a:solidFill>
                <a:latin typeface="Microsoft YaHei"/>
              </a:defRPr>
            </a:pPr>
            <a:r>
              <a:t>生成决策策略包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272491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3A5F"/>
                </a:solidFill>
                <a:latin typeface="Microsoft YaHei"/>
              </a:defRPr>
            </a:pPr>
            <a:r>
              <a:t>渠道 / 预算 / 权益分配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03920" y="3474720"/>
            <a:ext cx="32918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503920" y="3474720"/>
            <a:ext cx="3291840" cy="34747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03920" y="3730752"/>
            <a:ext cx="3291840" cy="91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03920" y="349300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项目三 · Marketing Agent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397763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2A4A"/>
                </a:solidFill>
                <a:latin typeface="Microsoft YaHei"/>
              </a:defRPr>
            </a:pPr>
            <a:r>
              <a:t>「触达」手脚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437083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3A5F"/>
                </a:solidFill>
                <a:latin typeface="Microsoft YaHei"/>
              </a:defRPr>
            </a:pPr>
            <a:r>
              <a:t>客户沟通展示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464515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3A5F"/>
                </a:solidFill>
                <a:latin typeface="Microsoft YaHei"/>
              </a:defRPr>
            </a:pPr>
            <a:r>
              <a:t>多渠道触达推送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20" y="491947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3A5F"/>
                </a:solidFill>
                <a:latin typeface="Microsoft YaHei"/>
              </a:defRPr>
            </a:pPr>
            <a:r>
              <a:t>收集反馈回传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8138160" y="1920240"/>
            <a:ext cx="347472" cy="20116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89520" y="1847088"/>
            <a:ext cx="5486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2563EB"/>
                </a:solidFill>
                <a:latin typeface="Microsoft YaHei"/>
              </a:defRPr>
            </a:pPr>
            <a:r>
              <a:t>数据供给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89520" y="1975104"/>
            <a:ext cx="5486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2563EB"/>
                </a:solidFill>
                <a:latin typeface="Microsoft YaHei"/>
              </a:defRPr>
            </a:pPr>
            <a:r>
              <a:t>A→B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8138160" y="4114800"/>
            <a:ext cx="347472" cy="20116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89520" y="4041648"/>
            <a:ext cx="5486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2563EB"/>
                </a:solidFill>
                <a:latin typeface="Microsoft YaHei"/>
              </a:defRPr>
            </a:pPr>
            <a:r>
              <a:t>直接服务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89520" y="4169663"/>
            <a:ext cx="5486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2563EB"/>
                </a:solidFill>
                <a:latin typeface="Microsoft YaHei"/>
              </a:defRPr>
            </a:pPr>
            <a:r>
              <a:t>A→C</a:t>
            </a:r>
          </a:p>
        </p:txBody>
      </p:sp>
      <p:sp>
        <p:nvSpPr>
          <p:cNvPr id="52" name="Down Arrow 51"/>
          <p:cNvSpPr/>
          <p:nvPr/>
        </p:nvSpPr>
        <p:spPr>
          <a:xfrm>
            <a:off x="9921240" y="3172968"/>
            <a:ext cx="201168" cy="256032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46920" y="3127248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2563EB"/>
                </a:solidFill>
                <a:latin typeface="Microsoft YaHei"/>
              </a:defRPr>
            </a:pPr>
            <a:r>
              <a:t>策略包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1520" y="5943600"/>
            <a:ext cx="7315200" cy="320040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5943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59E0B"/>
                </a:solidFill>
                <a:latin typeface="Microsoft YaHei"/>
              </a:defRPr>
            </a:pPr>
            <a:r>
              <a:t>🔄 反馈回流 C→A (2个API)  →  画像即时更新 + 意图重算 + 情绪更新 + 活跃度调整  →  「更好的理解」 → 项目二重新决策</a:t>
            </a:r>
          </a:p>
        </p:txBody>
      </p:sp>
      <p:sp>
        <p:nvSpPr>
          <p:cNvPr id="56" name="Left Arrow 55"/>
          <p:cNvSpPr/>
          <p:nvPr/>
        </p:nvSpPr>
        <p:spPr>
          <a:xfrm>
            <a:off x="8229600" y="5943600"/>
            <a:ext cx="365760" cy="182880"/>
          </a:xfrm>
          <a:prstGeom prst="lef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Left Arrow 56"/>
          <p:cNvSpPr/>
          <p:nvPr/>
        </p:nvSpPr>
        <p:spPr>
          <a:xfrm>
            <a:off x="8229600" y="5806440"/>
            <a:ext cx="365760" cy="182880"/>
          </a:xfrm>
          <a:prstGeom prst="lef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3600"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4698</Words>
  <Application>WPS 演示</Application>
  <PresentationFormat>宽屏</PresentationFormat>
  <Paragraphs>483</Paragraphs>
  <Slides>26</Slides>
  <Notes>4</Notes>
  <HiddenSlides>0</HiddenSlides>
  <MMClips>1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7" baseType="lpstr">
      <vt:lpstr>Arial</vt:lpstr>
      <vt:lpstr>宋体</vt:lpstr>
      <vt:lpstr>Wingdings</vt:lpstr>
      <vt:lpstr>等线</vt:lpstr>
      <vt:lpstr>微软雅黑</vt:lpstr>
      <vt:lpstr>微软雅黑 Light</vt:lpstr>
      <vt:lpstr>Yuanti SC</vt:lpstr>
      <vt:lpstr>Arial Unicode MS</vt:lpstr>
      <vt:lpstr>Cambria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张炜聪</dc:creator>
  <cp:lastModifiedBy>一只大皮耶</cp:lastModifiedBy>
  <cp:revision>301</cp:revision>
  <cp:lastPrinted>2017-02-19T13:02:00Z</cp:lastPrinted>
  <dcterms:created xsi:type="dcterms:W3CDTF">2016-07-12T12:18:00Z</dcterms:created>
  <dcterms:modified xsi:type="dcterms:W3CDTF">2026-07-22T02:00:47Z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KSOTemplateUUID">
    <vt:lpwstr>v1.0_mb_U/MUwCl8hOxLrGpRq9Kt5Q==</vt:lpwstr>
  </property>
  <property fmtid="{D5CDD505-2E9C-101B-9397-08002B2CF9AE}" pid="4" name="ICV">
    <vt:lpwstr>71BD30A19B7F479ABF970FFBA3173852_11</vt:lpwstr>
  </property>
</Properties>
</file>