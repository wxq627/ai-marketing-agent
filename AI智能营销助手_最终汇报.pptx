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46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029200" cy="6711696"/>
          </a:xfrm>
          <a:prstGeom prst="rect">
            <a:avLst/>
          </a:prstGeom>
          <a:solidFill>
            <a:srgbClr val="08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50"/>
              </a:lnSpc>
              <a:spcAft>
                <a:spcPts val="20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AI智能营销助手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  <a:spcAft>
                <a:spcPts val="200"/>
              </a:spcAft>
              <a:defRPr sz="2200" b="0">
                <a:solidFill>
                  <a:srgbClr val="3BA9F5"/>
                </a:solidFill>
                <a:latin typeface="Microsoft YaHei"/>
              </a:defRPr>
            </a:pPr>
            <a:r>
              <a:t>让银行真正「理解」每一位客户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2286000" cy="36576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400" b="0">
                <a:solidFill>
                  <a:srgbClr val="AABBCC"/>
                </a:solidFill>
                <a:latin typeface="Microsoft YaHei"/>
              </a:defRPr>
            </a:pPr>
            <a:r>
              <a:t>信用卡全链路智能营销平台</a:t>
            </a:r>
            <a:br/>
            <a:r>
              <a:t>项目一 · Knowledge Agent 知识引擎与记忆中心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汇报人：张诗语  |  2026年7月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50"/>
              </a:lnSpc>
              <a:spcAft>
                <a:spcPts val="200"/>
              </a:spcAft>
              <a:defRPr sz="3000" b="1">
                <a:solidFill>
                  <a:srgbClr val="3BA9F5"/>
                </a:solidFill>
                <a:latin typeface="Microsoft YaHei"/>
              </a:defRPr>
            </a:pPr>
            <a:r>
              <a:t>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总完成度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50"/>
              </a:lnSpc>
              <a:spcAft>
                <a:spcPts val="200"/>
              </a:spcAft>
              <a:defRPr sz="3000" b="1">
                <a:solidFill>
                  <a:srgbClr val="3BA9F5"/>
                </a:solidFill>
                <a:latin typeface="Microsoft YaHei"/>
              </a:defRPr>
            </a:pPr>
            <a:r>
              <a:t>18表+150文档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数据资产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50"/>
              </a:lnSpc>
              <a:spcAft>
                <a:spcPts val="200"/>
              </a:spcAft>
              <a:defRPr sz="3000" b="1">
                <a:solidFill>
                  <a:srgbClr val="3BA9F5"/>
                </a:solidFill>
                <a:latin typeface="Microsoft YaHei"/>
              </a:defRPr>
            </a:pPr>
            <a:r>
              <a:t>183节点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50"/>
              </a:lnSpc>
              <a:spcAft>
                <a:spcPts val="200"/>
              </a:spcAft>
              <a:defRPr sz="3000" b="1">
                <a:solidFill>
                  <a:srgbClr val="3BA9F5"/>
                </a:solidFill>
                <a:latin typeface="Microsoft YaHei"/>
              </a:defRPr>
            </a:pPr>
            <a:r>
              <a:t>14个API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对外接口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SQLite + NetworkX + TF-IDF + Tesseract + FastAPI + Streamlit + DeepSeek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故事起点：银行营销困在一个「不懂」上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一张信用卡背后，银行其实不了解两件最关键的事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  <a:spcAft>
                <a:spcPts val="200"/>
              </a:spcAft>
              <a:defRPr sz="2200" b="1">
                <a:solidFill>
                  <a:srgbClr val="EF4444"/>
                </a:solidFill>
                <a:latin typeface="Microsoft YaHei"/>
              </a:defRPr>
            </a:pPr>
            <a:r>
              <a:t>😶  不懂客户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他是谁？持有什么卡？额度多少？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他最近在看什么页面？搜索了什么？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他现在想分期还是想出游？什么时候推？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上次推送他点了吗？转化了吗？ROI多少？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他满意还是想销户？还能不能继续推？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  <a:spcAft>
                <a:spcPts val="200"/>
              </a:spcAft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📦  不懂商品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这个产品有哪些权益？哪些活动适用？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白金卡的机场贵宾厅能用几次？什么条件？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这张活动海报上写了什么规则？能搜到吗？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150份产品文档/条款/规则，怎么快速找到答案？</a:t>
            </a:r>
          </a:p>
          <a:p>
            <a:pPr>
              <a:spcAft>
                <a:spcPts val="200"/>
              </a:spcAft>
              <a:defRPr sz="500" b="0">
                <a:solidFill>
                  <a:srgbClr val="1A1A1A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 b="0">
                <a:solidFill>
                  <a:srgbClr val="4A4A4A"/>
                </a:solidFill>
                <a:latin typeface="Microsoft YaHei"/>
              </a:defRPr>
            </a:pPr>
            <a:r>
              <a:t>• 哪些合规红线不能碰？这个客群能推分期吗？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035040"/>
            <a:ext cx="11274552" cy="5943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💡  我们的答案：造一个 AI 「理解」引擎 —— 既理解客户，也理解商品。客户经理搜索客户，AI自动告诉ta：这是谁、想要什么、该推什么、为什么。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系统总览：四层架构，全部为「理解」服务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3BA9F5"/>
                </a:solidFill>
                <a:latin typeface="Microsoft YaHei"/>
              </a:defRPr>
            </a:pPr>
            <a:r>
              <a:t>🎯 能力层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「理解什么」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002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4A4A4A"/>
                </a:solidFill>
                <a:latin typeface="Microsoft YaHei"/>
              </a:defRPr>
            </a:pPr>
            <a:r>
              <a:t>理解客户画像 + 理解商品权益</a:t>
            </a:r>
            <a:br/>
            <a:r>
              <a:t>→ 客户360大屏 + 知识图谱大屏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24912"/>
            <a:ext cx="11064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2953512"/>
            <a:ext cx="640080" cy="64008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16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1E7EC4"/>
                </a:solidFill>
                <a:latin typeface="Microsoft YaHei"/>
              </a:defRPr>
            </a:pPr>
            <a:r>
              <a:t>⚙️ 平台层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「怎么理解」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62072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4A4A4A"/>
                </a:solidFill>
                <a:latin typeface="Microsoft YaHei"/>
              </a:defRPr>
            </a:pPr>
            <a:r>
              <a:t>NLP · 大模型 · 意图识别 · GraphRAG</a:t>
            </a:r>
            <a:br/>
            <a:r>
              <a:t>语义处理 · 情感分析 · 多模态引擎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86783"/>
            <a:ext cx="11064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4215383"/>
            <a:ext cx="640080" cy="640080"/>
          </a:xfrm>
          <a:prstGeom prst="ellipse">
            <a:avLst/>
          </a:prstGeom>
          <a:solidFill>
            <a:srgbClr val="14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7822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14538A"/>
                </a:solidFill>
                <a:latin typeface="Microsoft YaHei"/>
              </a:defRPr>
            </a:pPr>
            <a:r>
              <a:t>💾 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970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「靠什么理解」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123943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4A4A4A"/>
                </a:solidFill>
                <a:latin typeface="Microsoft YaHei"/>
              </a:defRPr>
            </a:pPr>
            <a:r>
              <a:t>18表结构化数据 + 150份非结构化文档</a:t>
            </a:r>
            <a:br/>
            <a:r>
              <a:t>64K OneID映射 + 三级更新管道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48656"/>
            <a:ext cx="110642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5477256"/>
            <a:ext cx="640080" cy="64008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400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0B2A4A"/>
                </a:solidFill>
                <a:latin typeface="Microsoft YaHei"/>
              </a:defRPr>
            </a:pPr>
            <a:r>
              <a:t>🖥️ 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751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「跑在哪里」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385816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4A4A4A"/>
                </a:solidFill>
                <a:latin typeface="Microsoft YaHei"/>
              </a:defRPr>
            </a:pPr>
            <a:r>
              <a:t>SQLite + NetworkX + TF-IDF + Tesseract</a:t>
            </a:r>
            <a:br/>
            <a:r>
              <a:t>FastAPI + Streamlit + DeepSeek</a:t>
            </a:r>
          </a:p>
        </p:txBody>
      </p:sp>
      <p:sp>
        <p:nvSpPr>
          <p:cNvPr id="26" name="Oval 25"/>
          <p:cNvSpPr/>
          <p:nvPr/>
        </p:nvSpPr>
        <p:spPr>
          <a:xfrm>
            <a:off x="2758440" y="6400800"/>
            <a:ext cx="365760" cy="36576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85800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数据层</a:t>
            </a:r>
            <a:br/>
            <a:r>
              <a:t>(食材)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169920" y="6519672"/>
            <a:ext cx="2316480" cy="128016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97880" y="6400800"/>
            <a:ext cx="365760" cy="36576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1040" y="685800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平台层</a:t>
            </a:r>
            <a:br/>
            <a:r>
              <a:t>(厨师)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309360" y="6519672"/>
            <a:ext cx="2316480" cy="128016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037320" y="6400800"/>
            <a:ext cx="365760" cy="365760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0480" y="685800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能力层</a:t>
            </a:r>
            <a:br/>
            <a:r>
              <a:t>(菜肴)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能力层 · 上：理解用户画像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从四个层次递进式理解客户 —— 客户360大屏的完整能力</a:t>
            </a:r>
          </a:p>
        </p:txBody>
      </p:sp>
      <p:sp>
        <p:nvSpPr>
          <p:cNvPr id="7" name="Oval 6"/>
          <p:cNvSpPr/>
          <p:nvPr/>
        </p:nvSpPr>
        <p:spPr>
          <a:xfrm>
            <a:off x="1885950" y="1234440"/>
            <a:ext cx="365760" cy="36576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第一层</a:t>
            </a:r>
            <a:br/>
            <a:r>
              <a:t>他是谁？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97430" y="1353312"/>
            <a:ext cx="1851660" cy="128016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60570" y="1234440"/>
            <a:ext cx="365760" cy="36576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6140" y="169164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第二层</a:t>
            </a:r>
            <a:br/>
            <a:r>
              <a:t>他在做什么？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2050" y="1353312"/>
            <a:ext cx="1851660" cy="128016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35190" y="1234440"/>
            <a:ext cx="365760" cy="36576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4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第三层</a:t>
            </a:r>
            <a:br/>
            <a:r>
              <a:t>他想干什么？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46670" y="1353312"/>
            <a:ext cx="1851660" cy="128016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09810" y="1234440"/>
            <a:ext cx="365760" cy="365760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5380" y="169164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第四层</a:t>
            </a:r>
            <a:br/>
            <a:r>
              <a:t>推送有用吗？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148840"/>
            <a:ext cx="278892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148840"/>
            <a:ext cx="278892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Tab0 静态画像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6207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spcAft>
                <a:spcPts val="200"/>
              </a:spcAft>
              <a:defRPr sz="1000" b="1">
                <a:solidFill>
                  <a:srgbClr val="0B2A4A"/>
                </a:solidFill>
                <a:latin typeface="Microsoft YaHei"/>
              </a:defRPr>
            </a:pPr>
            <a:r>
              <a:t>回答：「他是谁」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5维59字段完整档案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人口属性：32岁·深圳·IT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账户属性：白金卡·额度20万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生命周期：成熟期·开户64月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风险标签：M0·无逾期·低套现风险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价值标签：年消费18万·LTV高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64408" y="2148840"/>
            <a:ext cx="278892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64408" y="2148840"/>
            <a:ext cx="2788920" cy="640080"/>
          </a:xfrm>
          <a:prstGeom prst="rect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Tab1 动态记忆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86207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spcAft>
                <a:spcPts val="200"/>
              </a:spcAft>
              <a:defRPr sz="1000" b="1">
                <a:solidFill>
                  <a:srgbClr val="1E7EC4"/>
                </a:solidFill>
                <a:latin typeface="Microsoft YaHei"/>
              </a:defRPr>
            </a:pPr>
            <a:r>
              <a:t>回答：「他在做什么」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20040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5信号×4时间窗口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消费趋势：近30天↓20%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搜索意图：「出境游」「汇率」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浏览偏好：权益商城60%·分期计算器25%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关键事件：首次境外消费·首笔分期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活跃度评分：62/100（中等）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2148840"/>
            <a:ext cx="278892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08776" y="2148840"/>
            <a:ext cx="2788920" cy="64008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Tab2 意图情绪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86207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spcAft>
                <a:spcPts val="200"/>
              </a:spcAft>
              <a:defRPr sz="1000" b="1">
                <a:solidFill>
                  <a:srgbClr val="3BA9F5"/>
                </a:solidFill>
                <a:latin typeface="Microsoft YaHei"/>
              </a:defRPr>
            </a:pPr>
            <a:r>
              <a:t>回答：「他想干什么」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20040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6类意图评分（0-100分）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🔴 分期需求 85分（高·DeepSeek）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🟠 出行需求 45分（中）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🔵 权益需求 30分（低）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焦虑度65·满意度40·P3实时情绪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LLM建议：优先推荐低门槛分期方案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3144" y="2148840"/>
            <a:ext cx="278892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53144" y="2148840"/>
            <a:ext cx="27889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Tab3 活动效果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286207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spcAft>
                <a:spcPts val="20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回答：「推送有用吗」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320040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触达→点击→转化全链路追踪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近90天触达8次·点击3次·转化2次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点击率37.5%·转化率25%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归因收入¥12,500·ROI 3.2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项目三实时策略效果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兴趣率/拒绝率实时展示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5维59字段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静态画像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01568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5信号×4窗口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动态记忆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5936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6类意图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DeepSeek评分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90304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3级管道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数据更新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能力层 · 下：理解商品权益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四种方式覆盖「关系-结构-文本-图像」全部维度 —— 知识图谱大屏的完整能力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278892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788920" cy="59436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🕸️  Tab1 知识图谱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3BA9F5"/>
                </a:solidFill>
                <a:latin typeface="Microsoft YaHei"/>
              </a:defRPr>
            </a:pPr>
            <a:r>
              <a:t>关系理解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774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183节点·1040边·7种关系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产品↔权益↔活动→条款关联网络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GraphRAG混合检索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图遍历+向量+关键词三路融合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可交互Plotly力导向图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depth=1/2可调·Neo4j可导出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371600"/>
            <a:ext cx="278892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4408" y="1371600"/>
            <a:ext cx="27889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🌳  Tab2 产品权益树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结构理解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3774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15款产品×90条权益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按7类别分组（出行/生活/消费…）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展开/折叠树形层级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办理资格：收入·年龄·卡等级·额度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适用活动按卡等级自动匹配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快速跳转按钮一键切换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371600"/>
            <a:ext cx="278892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1371600"/>
            <a:ext cx="27889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🔍  Tab3 全文检索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关键词理解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774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150份文档统一索引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滑动窗口拆词（L=4,3,2）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平方权重评分（count×len²）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海报×1.5加权系数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关键词高亮·类型筛选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粉色标签+图片预览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1371600"/>
            <a:ext cx="278892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53144" y="1371600"/>
            <a:ext cx="278892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🖼️  Tab4 多模态检索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8B5CF6"/>
                </a:solidFill>
                <a:latin typeface="Microsoft YaHei"/>
              </a:defRPr>
            </a:pPr>
            <a:r>
              <a:t>图像理解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3774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四层检索管线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Tesseract OCR→关键词精匹配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→语义伪相似度→LLM终判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三层假阳性控制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上传自动OCR+入库</a:t>
            </a:r>
          </a:p>
          <a:p>
            <a:pPr>
              <a:spcAft>
                <a:spcPts val="200"/>
              </a:spcAft>
              <a:defRPr sz="1000" b="0">
                <a:solidFill>
                  <a:srgbClr val="4A4A4A"/>
                </a:solidFill>
                <a:latin typeface="Microsoft YaHei"/>
              </a:defRPr>
            </a:pPr>
            <a:r>
              <a:t>• 海报变可检索知识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四者关系：知识图谱回答「白金卡有什么」（全局关系） → 权益树回答「这款卡的全部权益+谁能办」（单产品结构） → 全文检索回答「搜‘机场’能找到什么」（任意关键词） → 多模态检索回答「这张海报上写了什么规则」（图像理解）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8076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183节点+1040边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01568" y="608076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150份文档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全文检索范围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608076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7种关系类型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图谱关系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608076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四层管线+三层假阳性控制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多模态检索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平台层：AI大脑如何「理解」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五大引擎各解决一个核心问题，全部可运行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217627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1508760"/>
            <a:ext cx="594360" cy="594360"/>
          </a:xfrm>
          <a:prstGeom prst="ellipse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3BA9F5"/>
                </a:solidFill>
                <a:latin typeface="Microsoft YaHei"/>
              </a:defRPr>
            </a:pPr>
            <a:r>
              <a:t>意图识别引擎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客户现在想要什么？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4A4A4A"/>
                </a:solidFill>
                <a:latin typeface="Microsoft YaHei"/>
              </a:defRPr>
            </a:pPr>
            <a:r>
              <a:t>DeepSeek LLM → RuleScorer → CSV</a:t>
            </a:r>
            <a:br/>
            <a:r>
              <a:t>三级降级，服务永不中断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371600"/>
            <a:ext cx="217627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29000" y="1508760"/>
            <a:ext cx="594360" cy="594360"/>
          </a:xfrm>
          <a:prstGeom prst="ellipse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1E7EC4"/>
                </a:solidFill>
                <a:latin typeface="Microsoft YaHei"/>
              </a:defRPr>
            </a:pPr>
            <a:r>
              <a:t>GraphRAG引擎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4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产品/权益/客户之间</a:t>
            </a:r>
            <a:br/>
            <a:r>
              <a:t>是什么关系？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4A4A4A"/>
                </a:solidFill>
                <a:latin typeface="Microsoft YaHei"/>
              </a:defRPr>
            </a:pPr>
            <a:r>
              <a:t>图遍历 + TF-IDF向量 + 关键词</a:t>
            </a:r>
            <a:br/>
            <a:r>
              <a:t>三路融合检索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79" y="1371600"/>
            <a:ext cx="217627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60719" y="150876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19" y="224028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语义/情感引擎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19" y="260604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客户情绪怎么样？</a:t>
            </a:r>
            <a:br/>
            <a:r>
              <a:t>该怎么跟他说话？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19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4A4A4A"/>
                </a:solidFill>
                <a:latin typeface="Microsoft YaHei"/>
              </a:defRPr>
            </a:pPr>
            <a:r>
              <a:t>DeepSeek + 规则引擎</a:t>
            </a:r>
            <a:br/>
            <a:r>
              <a:t>+ P3实时情绪三源融合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9" y="1371600"/>
            <a:ext cx="217627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92439" y="150876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39" y="224028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OneID引擎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39" y="260604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不同系统的ID</a:t>
            </a:r>
            <a:br/>
            <a:r>
              <a:t>是同一个人吗？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4A4A4A"/>
                </a:solidFill>
                <a:latin typeface="Microsoft YaHei"/>
              </a:defRPr>
            </a:pPr>
            <a:r>
              <a:t>强/中/弱ID三级 + 4步算法</a:t>
            </a:r>
            <a:br/>
            <a:r>
              <a:t>+ 冲突检测，36项测试全通过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19" y="1371600"/>
            <a:ext cx="217627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24159" y="150876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224028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画像引擎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260604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客户的基本面/行为面</a:t>
            </a:r>
            <a:br/>
            <a:r>
              <a:t>/价值面怎么样？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59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4A4A4A"/>
                </a:solidFill>
                <a:latin typeface="Microsoft YaHei"/>
              </a:defRPr>
            </a:pPr>
            <a:r>
              <a:t>Pandas批处理</a:t>
            </a:r>
            <a:br/>
            <a:r>
              <a:t>+ T+1/微批/事件驱动三级更新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46320"/>
            <a:ext cx="11274552" cy="1602292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🌐  统一 API 服务层 —— FastAPI 14个接口 + Swagger 自动文档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A→B (5接口): 客户圈选 · 频控检查 · 渠道上下文 · 知识检索 · 活动效果</a:t>
            </a:r>
          </a:p>
          <a:p>
            <a:pPr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A→C (7接口): OneID解析 · 完整画像 · 意图向量 · 即时分类 · 知识搜索 · 事件流 · 个性化推荐</a:t>
            </a:r>
          </a:p>
          <a:p>
            <a:pPr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3BA9F5"/>
                </a:solidFill>
                <a:latin typeface="Microsoft YaHei"/>
              </a:defRPr>
            </a:pPr>
            <a:r>
              <a:t>C→A (2接口): 行为事件回传 · 对话摘要回传  →  画像即时更新 + 意图重算 + 大屏立即可见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平台层深入：DeepSeek大模型 —— 让机器真正「读懂」人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五大能力覆盖五个理解维度 · 三级降级保障服务永不中断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DeepSeek能力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在哪用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降级方案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Chat（意图分类）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读懂客户行为→6类意图评分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客户360 Tab2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RuleScorer规则引擎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JSON输出0-100分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Chat（情感分析）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读懂客户情绪→焦虑度/满意度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客户360 Tab2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规则计算（逾期+风险）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60字分析+营销建议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Chat（语义验证）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判断搜索词与内容是否真相关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多模态检索 Step3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降级规则（≤2或≥7直接返回）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仅边界case调LLM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Embedding（768维）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文本→数学向量，实现语义检索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GraphRAG向量检索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TF-IDF伪相似度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识别「便宜=优惠」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Vision（图片理解）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看懂海报文字和场景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多模态检索 Step0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Tesseract OCR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海报→结构化文本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0B2A4A"/>
                </a:solidFill>
                <a:latin typeface="Microsoft YaHei"/>
              </a:defRPr>
            </a:pPr>
            <a:r>
              <a:t>🛡️  三级降级保障：LLM不可用时服务绝不中断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383280" cy="914400"/>
          </a:xfrm>
          <a:prstGeom prst="round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第1层：DeepSeek LLM</a:t>
            </a:r>
          </a:p>
          <a:p>
            <a:pPr algn="ctr">
              <a:defRPr sz="1000">
                <a:solidFill>
                  <a:srgbClr val="DDEEFF"/>
                </a:solidFill>
                <a:latin typeface="Microsoft YaHei"/>
              </a:defRPr>
            </a:pPr>
            <a:r>
              <a:t>最准确，优先使用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5074920"/>
            <a:ext cx="274320" cy="228600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59" y="4754880"/>
            <a:ext cx="3383280" cy="914400"/>
          </a:xfrm>
          <a:prstGeom prst="roundRect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第2层：RuleScorer 规则引擎</a:t>
            </a:r>
          </a:p>
          <a:p>
            <a:pPr algn="ctr">
              <a:defRPr sz="1000">
                <a:solidFill>
                  <a:srgbClr val="DDEEFF"/>
                </a:solidFill>
                <a:latin typeface="Microsoft YaHei"/>
              </a:defRPr>
            </a:pPr>
            <a:r>
              <a:t>YAML热更新，LLM不可用时自动切换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59" y="5074920"/>
            <a:ext cx="274320" cy="228600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4754880"/>
            <a:ext cx="3383280" cy="914400"/>
          </a:xfrm>
          <a:prstGeom prst="roundRect">
            <a:avLst/>
          </a:prstGeom>
          <a:solidFill>
            <a:srgbClr val="14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第3层：CSV预计算数据</a:t>
            </a:r>
          </a:p>
          <a:p>
            <a:pPr algn="ctr">
              <a:defRPr sz="1000">
                <a:solidFill>
                  <a:srgbClr val="DDEEFF"/>
                </a:solidFill>
                <a:latin typeface="Microsoft YaHei"/>
              </a:defRPr>
            </a:pPr>
            <a:r>
              <a:t>最后兜底，保证服务永不停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💡 关键特性：未设置 API Key 时自动降级为 Mock 模式；运行时配置环境变量即刻生效，无需重启；客户360 Tab2 标题显示当前使用 (DeepSeek) 还是 (规则引擎)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数据层：喂给AI的「食材」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18表结构化数据 + 150份非结构化文档 + OneID统一融合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4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14538A"/>
                </a:solidFill>
                <a:latin typeface="Microsoft YaHei"/>
              </a:defRPr>
            </a:pPr>
            <a:r>
              <a:t>📊  结构化数据（18张表）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11680"/>
          <a:ext cx="530352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数据域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支撑的理解</a:t>
                      </a:r>
                      <a:endParaRPr dirty="0"/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客户基础 + 信用卡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8,000人 + 19,939张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静态画像（他是谁）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交易流水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760,718条（12个月）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消费趋势 · 价值标签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APP埋点事件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369,497条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搜索意图 · 浏览偏好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账单 +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189K + 8,000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风险标签 · 生命周期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产品 + 权益 + 活动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15 + 90 + 25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知识图谱 · 权益树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归因 + 效果 + 渠道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30K + 25 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活动效果</a:t>
                      </a:r>
                      <a:r>
                        <a:rPr dirty="0"/>
                        <a:t> · </a:t>
                      </a:r>
                      <a:r>
                        <a:rPr dirty="0" err="1"/>
                        <a:t>渠道策略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画像预计算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8,000 × 58字段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大屏秒开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意图向量预计算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8,000 × 8维度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离线兜底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1371600"/>
            <a:ext cx="557784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3BA9F5"/>
                </a:solidFill>
                <a:latin typeface="Microsoft YaHei"/>
              </a:defRPr>
            </a:pPr>
            <a:r>
              <a:t>📄  非结构化数据（150份）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2011680"/>
          <a:ext cx="530352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产品文档 TXT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全文检索 · GraphRAG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ASR客服对话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956条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意图识别 · 情感分析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活动海报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12组（图+JSON）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多模态检索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合规规则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14条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合规过滤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17920" y="4023360"/>
            <a:ext cx="5577840" cy="21945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🔗  </a:t>
            </a:r>
            <a:r>
              <a:rPr dirty="0" err="1"/>
              <a:t>OneID</a:t>
            </a:r>
            <a:r>
              <a:rPr dirty="0"/>
              <a:t> </a:t>
            </a:r>
            <a:r>
              <a:rPr dirty="0" err="1"/>
              <a:t>统一融合层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492240" y="4617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64,776条映射记录 · 7种ID类型</a:t>
            </a:r>
          </a:p>
          <a:p>
            <a:pPr>
              <a:spcAft>
                <a:spcPts val="200"/>
              </a:spcAft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rPr dirty="0" err="1"/>
              <a:t>强ID</a:t>
            </a:r>
            <a:r>
              <a:rPr dirty="0"/>
              <a:t>(身份证100%) → </a:t>
            </a:r>
            <a:r>
              <a:rPr dirty="0" err="1"/>
              <a:t>中ID</a:t>
            </a:r>
            <a:r>
              <a:rPr dirty="0"/>
              <a:t>(</a:t>
            </a:r>
            <a:r>
              <a:rPr dirty="0" err="1"/>
              <a:t>手机</a:t>
            </a:r>
            <a:r>
              <a:rPr dirty="0"/>
              <a:t>/卡号95%) → </a:t>
            </a:r>
            <a:r>
              <a:rPr dirty="0" err="1"/>
              <a:t>弱ID</a:t>
            </a:r>
            <a:r>
              <a:rPr dirty="0"/>
              <a:t>(设备90%)</a:t>
            </a:r>
          </a:p>
          <a:p>
            <a:pPr>
              <a:spcAft>
                <a:spcPts val="200"/>
              </a:spcAft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rPr dirty="0"/>
              <a:t>4步确定性算法 + 3种冲突策略（自动迁移/</a:t>
            </a:r>
            <a:r>
              <a:rPr dirty="0" err="1"/>
              <a:t>双映射</a:t>
            </a:r>
            <a:r>
              <a:rPr dirty="0"/>
              <a:t>/</a:t>
            </a:r>
            <a:r>
              <a:rPr dirty="0" err="1"/>
              <a:t>人工标记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rPr dirty="0"/>
              <a:t>7个API接口 · 36项测试全通过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200"/>
              </a:spcAft>
              <a:defRPr sz="1300" b="1">
                <a:solidFill>
                  <a:srgbClr val="3BA9F5"/>
                </a:solidFill>
                <a:latin typeface="Microsoft YaHei"/>
              </a:defRPr>
            </a:pPr>
            <a:r>
              <a:rPr dirty="0" err="1"/>
              <a:t>使所有数据（结构化+非结构化）能关联到同一个客户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365760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18张表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结构化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150份文档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非结构化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64,776条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OneID映射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6355080"/>
            <a:ext cx="260604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BA9F5"/>
                </a:solidFill>
                <a:latin typeface="Microsoft YaHei"/>
              </a:defRPr>
            </a:pPr>
            <a:r>
              <a:t>3级管道</a:t>
            </a:r>
          </a:p>
          <a:p>
            <a:pPr algn="ctr">
              <a:defRPr sz="1000">
                <a:solidFill>
                  <a:srgbClr val="4A4A4A"/>
                </a:solidFill>
                <a:latin typeface="Microsoft YaHei"/>
              </a:defRPr>
            </a:pPr>
            <a:r>
              <a:t>T+1/微批/实时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基础设施层：技术栈与选型理由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当前Mock阶段轻量完整 · 每条选型都有明确的生产升级路径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430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当前选型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生产升级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切换难度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PostgreSQL兼容接口设计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PostgreSQL + Redis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🟢 低（换连接串）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图引擎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NetworkX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Python内存图·Cypher可导出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Neo4j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向量检索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TF-IDF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DeepSeek Embedding备选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Milvus + DS Embedding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Tesseract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本地chi_sim简体中文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Tesseract（不变）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🟢 已就绪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API框架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FastAPI + Uvicorn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14接口+Swagger+CORS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Docker + Kafka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双大屏（v15 + v5）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React + ECharts/G6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🔴 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AI模型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DeepSeek 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5功能全接入+自动降级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Qwen3-8B本地部署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🟡 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0B2A4A"/>
                </a:solidFill>
                <a:latin typeface="Microsoft YaHei"/>
              </a:defRPr>
            </a:pPr>
            <a:r>
              <a:rPr dirty="0"/>
              <a:t>💡  </a:t>
            </a:r>
            <a:r>
              <a:rPr dirty="0" err="1"/>
              <a:t>为什么选择当前技术栈</a:t>
            </a:r>
            <a:r>
              <a:rPr dirty="0"/>
              <a:t>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SQLite 而非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63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Mock阶段零安装零配置，接口已兼容PG，换一行连接串即可升级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10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NetworkX 而非 Neo4j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0109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Python进程内运行无需额外服务，已预留export_cypher()一键导出Neo4j脚本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583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TF-IDF 而非 Milvus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5838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轻量无依赖，DeepSeek API可用时自动切回768维Embedding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058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Streamlit 而非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7058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纯Python快速原型，双大屏从v1迭代到v15/v5，开发效率极高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533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DeepSeek API 而非本地模型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053327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免GPU部署，5功能覆盖完整，未设Key自动降级Mock不中断服务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三项目闭环：从「理解」到「行动」到「更好的理解」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项目一提供理解 → 项目二制定决策 → 项目三执行触达 → 反馈回流让理解越来越准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1828800"/>
          </a:xfrm>
          <a:prstGeom prst="round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项目一（我）</a:t>
            </a:r>
            <a:br/>
            <a:r>
              <a:t>「理解」引擎</a:t>
            </a:r>
          </a:p>
          <a:p>
            <a:pPr algn="ctr">
              <a:defRPr sz="1100">
                <a:solidFill>
                  <a:srgbClr val="DDEEFF"/>
                </a:solidFill>
                <a:latin typeface="Microsoft YaHei"/>
              </a:defRPr>
            </a:pPr>
            <a:r>
              <a:t>理解客户 · 理解商品</a:t>
            </a:r>
            <a:br/>
            <a:r>
              <a:t>14个API供项目二/三消费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1828800"/>
          </a:xfrm>
          <a:prstGeom prst="roundRect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项目二</a:t>
            </a:r>
            <a:br/>
            <a:r>
              <a:t>「决策」大脑</a:t>
            </a:r>
          </a:p>
          <a:p>
            <a:pPr algn="ctr">
              <a:defRPr sz="1100">
                <a:solidFill>
                  <a:srgbClr val="DDEEFF"/>
                </a:solidFill>
                <a:latin typeface="Microsoft YaHei"/>
              </a:defRPr>
            </a:pPr>
            <a:r>
              <a:t>圈选客群 · 生成策略包</a:t>
            </a:r>
            <a:br/>
            <a:r>
              <a:t>渠道/预算/权益/频控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项目三</a:t>
            </a:r>
            <a:br/>
            <a:r>
              <a:t>「触达」手脚</a:t>
            </a:r>
          </a:p>
          <a:p>
            <a:pPr algn="ctr">
              <a:defRPr sz="1100">
                <a:solidFill>
                  <a:srgbClr val="DDEEFF"/>
                </a:solidFill>
                <a:latin typeface="Microsoft YaHei"/>
              </a:defRPr>
            </a:pPr>
            <a:r>
              <a:t>多渠道推送 · 收集反馈</a:t>
            </a:r>
            <a:br/>
            <a:r>
              <a:t>曝光→点击→转化→投诉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2011680"/>
            <a:ext cx="457200" cy="320040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863840" y="2011680"/>
            <a:ext cx="457200" cy="320040"/>
          </a:xfrm>
          <a:prstGeom prst="right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0B2A4A"/>
                </a:solidFill>
                <a:latin typeface="Microsoft YaHei"/>
              </a:defRPr>
            </a:pPr>
            <a:r>
              <a:t>🔄  C→A 反馈回流 —— 让「理解」越来越准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11480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客户行为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系统更新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数据路由原则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点击推送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活跃度+1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仅记录feedback_events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下次推送时机更准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办理分期（转化）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年消费+金额·意图降分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conversion事件实时更新画像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分期需求满足→不再推分期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投诉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流失风险+25·降频30天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complaint事件触发降频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避免继续打扰→降低真正流失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对话聊天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情绪写入·意图更新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sentiment→Tab2读取，情绪加权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话术变温和→满意度提升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💡  每次客户交互，都让AI更「理解」这个客户：理解 → 决策 → 触达 → 反馈 → 更好的理解 → 更精准的决策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完成度与亮点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项目一 Knowledge Agent —— 8大模块总进度 ~93%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模块一 Mock数据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1732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292608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模块二 OneID引擎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1732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417320"/>
            <a:ext cx="292608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模块三 客户画像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1168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0" y="2011680"/>
            <a:ext cx="27797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模块四 GraphRAG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01168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2011680"/>
            <a:ext cx="2633472" cy="164592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模块五 意图识别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0604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0" y="2606040"/>
            <a:ext cx="27797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模块六 API服务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60604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2606040"/>
            <a:ext cx="248716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3856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154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模块七 大屏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20040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60320" y="3200400"/>
            <a:ext cx="2633472" cy="164592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154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模块八 多模态检索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200400"/>
            <a:ext cx="2926080" cy="16459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3200400"/>
            <a:ext cx="27797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33856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总进度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3931920"/>
            <a:ext cx="7772400" cy="228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28800" y="3931920"/>
            <a:ext cx="7228332" cy="22860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00"/>
              </a:spcAft>
              <a:defRPr sz="1400" b="1">
                <a:solidFill>
                  <a:srgbClr val="3BA9F5"/>
                </a:solidFill>
                <a:latin typeface="Microsoft YaHei"/>
              </a:defRPr>
            </a:pPr>
            <a:r>
              <a:t>~93%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389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0B2A4A"/>
                </a:solidFill>
                <a:latin typeface="Microsoft YaHei"/>
              </a:defRPr>
            </a:pPr>
            <a:r>
              <a:t>✨  六大核心亮点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892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🔗 三级降级不断线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166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4A4A4A"/>
                </a:solidFill>
                <a:latin typeface="Microsoft YaHei"/>
              </a:defRPr>
            </a:pPr>
            <a:r>
              <a:t>DeepSeek→RuleScorer→CSV，LLM挂了服务不停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892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🧩 GraphRAG混合检索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5166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4A4A4A"/>
                </a:solidFill>
                <a:latin typeface="Microsoft YaHei"/>
              </a:defRPr>
            </a:pPr>
            <a:r>
              <a:t>图遍历+向量+关键词三路融合，既有结构又有语义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92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🖼️ 海报也能搜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166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4A4A4A"/>
                </a:solidFill>
                <a:latin typeface="Microsoft YaHei"/>
              </a:defRPr>
            </a:pPr>
            <a:r>
              <a:t>OCR→关键词→语义→LLM四层管线，图像变可检索知识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6927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🔄 实时反馈闭环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94359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4A4A4A"/>
                </a:solidFill>
                <a:latin typeface="Microsoft YaHei"/>
              </a:defRPr>
            </a:pPr>
            <a:r>
              <a:t>C→A回传→画像即时更新→意图重算，越用越懂客户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566927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🛡️ 假阳性三层控制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594359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4A4A4A"/>
                </a:solidFill>
                <a:latin typeface="Microsoft YaHei"/>
              </a:defRPr>
            </a:pPr>
            <a:r>
              <a:t>关键词上下文验证+嵌入阈值+LLM终判，杜绝误匹配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66927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0B2A4A"/>
                </a:solidFill>
                <a:latin typeface="Microsoft YaHei"/>
              </a:defRPr>
            </a:pPr>
            <a:r>
              <a:t>📐 生产级升级预留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594359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spcAft>
                <a:spcPts val="200"/>
              </a:spcAft>
              <a:defRPr sz="1050" b="0">
                <a:solidFill>
                  <a:srgbClr val="4A4A4A"/>
                </a:solidFill>
                <a:latin typeface="Microsoft YaHei"/>
              </a:defRPr>
            </a:pPr>
            <a:r>
              <a:t>SQLite→PG, NetworkX→Neo4j, TF-IDF→Milvus，接口已兼容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0B2A4A"/>
                </a:solidFill>
                <a:latin typeface="Microsoft YaHei"/>
              </a:defRPr>
            </a:pPr>
            <a:r>
              <a:t>后续改进路线图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短期让理解更可靠 → 中期让理解更深入 → 长期让理解驱动自动决策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828800" cy="365760"/>
          </a:xfrm>
          <a:prstGeom prst="round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短期（1-2周）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3BA9F5"/>
                </a:solidFill>
                <a:latin typeface="Microsoft YaHei"/>
              </a:defRPr>
            </a:pPr>
            <a:r>
              <a:t>让「理解」更可靠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APScheduler 定时任务</a:t>
            </a:r>
            <a:br/>
            <a:r>
              <a:t>每日03:00自动刷新画像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2900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Docker Compose</a:t>
            </a:r>
            <a:br/>
            <a:r>
              <a:t>一键启动3个服务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API限流+日志</a:t>
            </a:r>
            <a:br/>
            <a:r>
              <a:t>生产级可观测性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69080" y="3200400"/>
            <a:ext cx="201168" cy="16459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15968" y="1371600"/>
            <a:ext cx="1828800" cy="365760"/>
          </a:xfrm>
          <a:prstGeom prst="roundRect">
            <a:avLst/>
          </a:prstGeom>
          <a:solidFill>
            <a:srgbClr val="1E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中期（1-2月）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87451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1E7EC4"/>
                </a:solidFill>
                <a:latin typeface="Microsoft YaHei"/>
              </a:defRPr>
            </a:pPr>
            <a:r>
              <a:t>让「理解」更深入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37744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PostgreSQL + Neo4j + Milvus</a:t>
            </a:r>
            <a:br/>
            <a:r>
              <a:t>存储升级三件套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42900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Kafka 实时管道</a:t>
            </a:r>
            <a:br/>
            <a:r>
              <a:t>C→A反馈真正的实时消费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48056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E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4572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Qwen3-8B 本地部署</a:t>
            </a:r>
            <a:br/>
            <a:r>
              <a:t>替代DeepSeek API降本增效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27848" y="3200400"/>
            <a:ext cx="201168" cy="16459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74736" y="1371600"/>
            <a:ext cx="1828800" cy="365760"/>
          </a:xfrm>
          <a:prstGeom prst="roundRect">
            <a:avLst/>
          </a:prstGeom>
          <a:solidFill>
            <a:srgbClr val="14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长期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187451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14538A"/>
                </a:solidFill>
                <a:latin typeface="Microsoft YaHei"/>
              </a:defRPr>
            </a:pPr>
            <a:r>
              <a:t>让「理解」驱动「自动决策」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237744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4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11896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端到端强化学习</a:t>
            </a:r>
            <a:br/>
            <a:r>
              <a:t>策略→触达→反馈→自动优化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42900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4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1896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实时客户画像</a:t>
            </a:r>
            <a:br/>
            <a:r>
              <a:t>Kafka事件流毫秒级更新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448056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4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11896" y="4572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多模态知识图谱</a:t>
            </a:r>
            <a:br/>
            <a:r>
              <a:t>图片/视频/音频统一入图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5532120"/>
            <a:ext cx="3566160" cy="91440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14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1896" y="5623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Microsoft YaHei"/>
              </a:defRPr>
            </a:pPr>
            <a:r>
              <a:t>千人千面实时决策</a:t>
            </a:r>
            <a:br/>
            <a:r>
              <a:t>全渠道营销自动化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Aft>
                <a:spcPts val="2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081F3A"/>
          </a:solidFill>
          <a:ln w="12700">
            <a:solidFill>
              <a:srgbClr val="3B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28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我们用 18张表 + 150份文档 + 183节点知识图谱 + DeepSeek大模型，</a:t>
            </a:r>
            <a:br/>
            <a:r>
              <a:t>构建了一个能「理解客户」和「理解商品」的AI引擎，</a:t>
            </a:r>
            <a:br/>
            <a:r>
              <a:t>让银行信用卡营销从「拍脑袋」走向「数据驱动」。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93%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13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总完成度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18表+150文档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913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数据资产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183节点+1040边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13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64,776条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913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OneID映射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14个API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10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对外接口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2大屏·8Tab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010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5/5功能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10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DeepSeek集成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200"/>
              </a:spcAft>
              <a:defRPr sz="2400" b="1">
                <a:solidFill>
                  <a:srgbClr val="3BA9F5"/>
                </a:solidFill>
                <a:latin typeface="Microsoft YaHei"/>
              </a:defRPr>
            </a:pPr>
            <a:r>
              <a:t>55项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010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测试通过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技术栈：SQLite + NetworkX + TF-IDF + Tesseract + FastAPI + Streamlit + DeepSeek  →  全部可运行  →  升级路径已预留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1898</Words>
  <Application>Microsoft Office PowerPoint</Application>
  <PresentationFormat>自定义</PresentationFormat>
  <Paragraphs>434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诗语 张</cp:lastModifiedBy>
  <cp:revision>2</cp:revision>
  <dcterms:created xsi:type="dcterms:W3CDTF">2013-01-27T09:14:16Z</dcterms:created>
  <dcterms:modified xsi:type="dcterms:W3CDTF">2026-07-22T11:03:55Z</dcterms:modified>
  <cp:category/>
</cp:coreProperties>
</file>